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Intercity Bus Reservation Simulator, a Java console application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 lets a user view buses and routes, reserve tickets, check seats, get fares with discounts, and update seats.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Fare = tickets × price; 10% discount when tickets ≥ 5; final = total − discount.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 light = invalid input, green = valid input: the gate opens only when validation passes.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gif"/><Relationship Id="rId2" Type="http://schemas.openxmlformats.org/officeDocument/2006/relationships/image" Target="../media/image-2-2.gi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gif"/><Relationship Id="rId2" Type="http://schemas.openxmlformats.org/officeDocument/2006/relationships/image" Target="../media/image-3-2.gi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gif"/><Relationship Id="rId2" Type="http://schemas.openxmlformats.org/officeDocument/2006/relationships/image" Target="../media/image-4-2.gi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gif"/><Relationship Id="rId2" Type="http://schemas.openxmlformats.org/officeDocument/2006/relationships/image" Target="../media/image-5-2.gi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gif"/><Relationship Id="rId2" Type="http://schemas.openxmlformats.org/officeDocument/2006/relationships/image" Target="../media/image-6-2.gi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gif"/><Relationship Id="rId2" Type="http://schemas.openxmlformats.org/officeDocument/2006/relationships/image" Target="../media/image-7-2.gif"/><Relationship Id="rId3" Type="http://schemas.openxmlformats.org/officeDocument/2006/relationships/image" Target="../media/image-7-3.gif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gif"/><Relationship Id="rId2" Type="http://schemas.openxmlformats.org/officeDocument/2006/relationships/image" Target="../media/image-8-2.gi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gif"/><Relationship Id="rId2" Type="http://schemas.openxmlformats.org/officeDocument/2006/relationships/image" Target="../media/image-9-2.gi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-bg_title" descr="Animated backg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a0-chip-1"/>
          <p:cNvSpPr/>
          <p:nvPr/>
        </p:nvSpPr>
        <p:spPr>
          <a:xfrm>
            <a:off x="548640" y="566928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PROJECT  •  CONSOLE APPLICATION</a:t>
            </a:r>
            <a:endParaRPr lang="en-US" sz="1100" dirty="0"/>
          </a:p>
        </p:txBody>
      </p:sp>
      <p:sp>
        <p:nvSpPr>
          <p:cNvPr id="4" name="a1-title-2"/>
          <p:cNvSpPr txBox="1"/>
          <p:nvPr/>
        </p:nvSpPr>
        <p:spPr>
          <a:xfrm>
            <a:off x="548640" y="1005840"/>
            <a:ext cx="6035040" cy="242316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38100" dir="5400000">
              <a:srgbClr val="2E1065">
                <a:alpha val="50000"/>
              </a:srgbClr>
            </a:outerShdw>
          </a:effectLst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Intercity Bus</a:t>
            </a:r>
            <a:endParaRPr lang="en-US" sz="5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Reservation</a:t>
            </a:r>
            <a:endParaRPr lang="en-US" sz="5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Simulator</a:t>
            </a:r>
            <a:endParaRPr lang="en-US" sz="5000" dirty="0"/>
          </a:p>
        </p:txBody>
      </p:sp>
      <p:sp>
        <p:nvSpPr>
          <p:cNvPr id="5" name="a2-sub-3"/>
          <p:cNvSpPr txBox="1"/>
          <p:nvPr/>
        </p:nvSpPr>
        <p:spPr>
          <a:xfrm>
            <a:off x="548640" y="3456432"/>
            <a:ext cx="512064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25400" dir="5400000">
              <a:srgbClr val="2E1065">
                <a:alpha val="70000"/>
              </a:srgbClr>
            </a:outerShdw>
          </a:effectLst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way to explore routes, reserve seats, and calculate fares with confidence.</a:t>
            </a:r>
            <a:endParaRPr lang="en-US" sz="1900" dirty="0"/>
          </a:p>
        </p:txBody>
      </p:sp>
      <p:sp>
        <p:nvSpPr>
          <p:cNvPr id="6" name="a3-chip-4"/>
          <p:cNvSpPr/>
          <p:nvPr/>
        </p:nvSpPr>
        <p:spPr>
          <a:xfrm>
            <a:off x="548640" y="4343400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SMART  •  BOOK EASY</a:t>
            </a:r>
            <a:endParaRPr lang="en-US" sz="1100" dirty="0"/>
          </a:p>
        </p:txBody>
      </p:sp>
      <p:sp>
        <p:nvSpPr>
          <p:cNvPr id="7" name="a3-foot-5"/>
          <p:cNvSpPr txBox="1"/>
          <p:nvPr/>
        </p:nvSpPr>
        <p:spPr>
          <a:xfrm>
            <a:off x="54864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2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-bg_mint" descr="Animated backg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a0-num-6"/>
          <p:cNvSpPr/>
          <p:nvPr/>
        </p:nvSpPr>
        <p:spPr>
          <a:xfrm>
            <a:off x="502920" y="384048"/>
            <a:ext cx="658368" cy="658368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27000" dist="38100" dir="5400000">
              <a:srgbClr val="312E81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4" name="a0-title-7"/>
          <p:cNvSpPr txBox="1"/>
          <p:nvPr/>
        </p:nvSpPr>
        <p:spPr>
          <a:xfrm>
            <a:off x="1325880" y="329184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</a:t>
            </a:r>
            <a:endParaRPr lang="en-US" sz="3400" dirty="0"/>
          </a:p>
        </p:txBody>
      </p:sp>
      <p:sp>
        <p:nvSpPr>
          <p:cNvPr id="5" name="a0-sub-8"/>
          <p:cNvSpPr txBox="1"/>
          <p:nvPr/>
        </p:nvSpPr>
        <p:spPr>
          <a:xfrm>
            <a:off x="1344168" y="896112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Java-based console application for intercity travel</a:t>
            </a:r>
            <a:endParaRPr lang="en-US" sz="1600" dirty="0"/>
          </a:p>
        </p:txBody>
      </p:sp>
      <p:sp>
        <p:nvSpPr>
          <p:cNvPr id="6" name="a1-card-9"/>
          <p:cNvSpPr/>
          <p:nvPr/>
        </p:nvSpPr>
        <p:spPr>
          <a:xfrm>
            <a:off x="548640" y="1463040"/>
            <a:ext cx="6400800" cy="4343400"/>
          </a:xfrm>
          <a:prstGeom prst="roundRect">
            <a:avLst>
              <a:gd name="adj" fmla="val 4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312E81">
                <a:alpha val="18000"/>
              </a:srgbClr>
            </a:outerShdw>
          </a:effectLst>
        </p:spPr>
      </p:sp>
      <p:sp>
        <p:nvSpPr>
          <p:cNvPr id="7" name="a1-chip-10"/>
          <p:cNvSpPr/>
          <p:nvPr/>
        </p:nvSpPr>
        <p:spPr>
          <a:xfrm>
            <a:off x="822960" y="1691640"/>
            <a:ext cx="1536192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SYSTEM</a:t>
            </a:r>
            <a:endParaRPr lang="en-US" sz="1100" dirty="0"/>
          </a:p>
        </p:txBody>
      </p:sp>
      <p:sp>
        <p:nvSpPr>
          <p:cNvPr id="8" name="a1-about-11"/>
          <p:cNvSpPr txBox="1"/>
          <p:nvPr/>
        </p:nvSpPr>
        <p:spPr>
          <a:xfrm>
            <a:off x="822960" y="2084832"/>
            <a:ext cx="5897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Intercity Bus Reservation System simplifies viewing available buses and reserving tickets for intercity journeys.</a:t>
            </a:r>
            <a:endParaRPr lang="en-US" sz="1700" dirty="0"/>
          </a:p>
        </p:txBody>
      </p:sp>
      <p:sp>
        <p:nvSpPr>
          <p:cNvPr id="9" name="a2-chip-12"/>
          <p:cNvSpPr/>
          <p:nvPr/>
        </p:nvSpPr>
        <p:spPr>
          <a:xfrm>
            <a:off x="822960" y="2944368"/>
            <a:ext cx="836676" cy="310896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00" dirty="0"/>
          </a:p>
        </p:txBody>
      </p:sp>
      <p:sp>
        <p:nvSpPr>
          <p:cNvPr id="10" name="a2-dot-13"/>
          <p:cNvSpPr/>
          <p:nvPr/>
        </p:nvSpPr>
        <p:spPr>
          <a:xfrm>
            <a:off x="822960" y="3392424"/>
            <a:ext cx="310896" cy="310896"/>
          </a:xfrm>
          <a:prstGeom prst="ellipse">
            <a:avLst/>
          </a:prstGeom>
          <a:solidFill>
            <a:srgbClr val="F9731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a2-row-14"/>
          <p:cNvSpPr txBox="1"/>
          <p:nvPr/>
        </p:nvSpPr>
        <p:spPr>
          <a:xfrm>
            <a:off x="1261872" y="3310128"/>
            <a:ext cx="5504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bus and route information</a:t>
            </a:r>
            <a:endParaRPr lang="en-US" sz="1500" dirty="0"/>
          </a:p>
        </p:txBody>
      </p:sp>
      <p:sp>
        <p:nvSpPr>
          <p:cNvPr id="12" name="a2-dot-15"/>
          <p:cNvSpPr/>
          <p:nvPr/>
        </p:nvSpPr>
        <p:spPr>
          <a:xfrm>
            <a:off x="822960" y="3867912"/>
            <a:ext cx="310896" cy="310896"/>
          </a:xfrm>
          <a:prstGeom prst="ellipse">
            <a:avLst/>
          </a:prstGeom>
          <a:solidFill>
            <a:srgbClr val="EC489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a2-row-16"/>
          <p:cNvSpPr txBox="1"/>
          <p:nvPr/>
        </p:nvSpPr>
        <p:spPr>
          <a:xfrm>
            <a:off x="1261872" y="3785616"/>
            <a:ext cx="5504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bus and reserve tickets</a:t>
            </a:r>
            <a:endParaRPr lang="en-US" sz="1500" dirty="0"/>
          </a:p>
        </p:txBody>
      </p:sp>
      <p:sp>
        <p:nvSpPr>
          <p:cNvPr id="14" name="a3-dot-17"/>
          <p:cNvSpPr/>
          <p:nvPr/>
        </p:nvSpPr>
        <p:spPr>
          <a:xfrm>
            <a:off x="822960" y="4343400"/>
            <a:ext cx="310896" cy="310896"/>
          </a:xfrm>
          <a:prstGeom prst="ellipse">
            <a:avLst/>
          </a:prstGeom>
          <a:solidFill>
            <a:srgbClr val="7C3A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a3-row-18"/>
          <p:cNvSpPr txBox="1"/>
          <p:nvPr/>
        </p:nvSpPr>
        <p:spPr>
          <a:xfrm>
            <a:off x="1261872" y="4261104"/>
            <a:ext cx="5504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seat availability before confirmation</a:t>
            </a:r>
            <a:endParaRPr lang="en-US" sz="1500" dirty="0"/>
          </a:p>
        </p:txBody>
      </p:sp>
      <p:sp>
        <p:nvSpPr>
          <p:cNvPr id="16" name="a3-dot-19"/>
          <p:cNvSpPr/>
          <p:nvPr/>
        </p:nvSpPr>
        <p:spPr>
          <a:xfrm>
            <a:off x="822960" y="4818888"/>
            <a:ext cx="310896" cy="310896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a3-row-20"/>
          <p:cNvSpPr txBox="1"/>
          <p:nvPr/>
        </p:nvSpPr>
        <p:spPr>
          <a:xfrm>
            <a:off x="1261872" y="4736592"/>
            <a:ext cx="5504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fare and applicable discount automatically</a:t>
            </a:r>
            <a:endParaRPr lang="en-US" sz="1500" dirty="0"/>
          </a:p>
        </p:txBody>
      </p:sp>
      <p:sp>
        <p:nvSpPr>
          <p:cNvPr id="18" name="a4-dot-21"/>
          <p:cNvSpPr/>
          <p:nvPr/>
        </p:nvSpPr>
        <p:spPr>
          <a:xfrm>
            <a:off x="822960" y="5294376"/>
            <a:ext cx="310896" cy="310896"/>
          </a:xfrm>
          <a:prstGeom prst="ellipse">
            <a:avLst/>
          </a:prstGeom>
          <a:solidFill>
            <a:srgbClr val="22C5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a4-row-22"/>
          <p:cNvSpPr txBox="1"/>
          <p:nvPr/>
        </p:nvSpPr>
        <p:spPr>
          <a:xfrm>
            <a:off x="1261872" y="5212080"/>
            <a:ext cx="5504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remaining seats after a successful reservation</a:t>
            </a:r>
            <a:endParaRPr lang="en-US" sz="1500" dirty="0"/>
          </a:p>
        </p:txBody>
      </p:sp>
      <p:pic>
        <p:nvPicPr>
          <p:cNvPr id="20" name="a3-gif-23" descr="Animated seat-booking kiosk printing a tick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463040"/>
            <a:ext cx="4251960" cy="3401568"/>
          </a:xfrm>
          <a:prstGeom prst="rect">
            <a:avLst/>
          </a:prstGeom>
        </p:spPr>
      </p:pic>
      <p:sp>
        <p:nvSpPr>
          <p:cNvPr id="21" name="a4-cap-24"/>
          <p:cNvSpPr/>
          <p:nvPr/>
        </p:nvSpPr>
        <p:spPr>
          <a:xfrm>
            <a:off x="7315200" y="5029200"/>
            <a:ext cx="4251960" cy="566928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  <a:effectLst>
            <a:outerShdw sx="100000" sy="100000" kx="0" ky="0" algn="bl" rotWithShape="0" blurRad="127000" dist="38100" dir="5400000">
              <a:srgbClr val="312E81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clear, menu-driven booking experience</a:t>
            </a:r>
            <a:endParaRPr lang="en-US" sz="16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-bg_peach" descr="Animated backg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a0-num-25"/>
          <p:cNvSpPr/>
          <p:nvPr/>
        </p:nvSpPr>
        <p:spPr>
          <a:xfrm>
            <a:off x="502920" y="384048"/>
            <a:ext cx="658368" cy="658368"/>
          </a:xfrm>
          <a:prstGeom prst="ellipse">
            <a:avLst/>
          </a:prstGeom>
          <a:solidFill>
            <a:srgbClr val="F97316"/>
          </a:solidFill>
          <a:ln/>
          <a:effectLst>
            <a:outerShdw sx="100000" sy="100000" kx="0" ky="0" algn="bl" rotWithShape="0" blurRad="127000" dist="38100" dir="5400000">
              <a:srgbClr val="312E81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4" name="a0-title-26"/>
          <p:cNvSpPr txBox="1"/>
          <p:nvPr/>
        </p:nvSpPr>
        <p:spPr>
          <a:xfrm>
            <a:off x="1325880" y="329184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Data Is Processed</a:t>
            </a:r>
            <a:endParaRPr lang="en-US" sz="3400" dirty="0"/>
          </a:p>
        </p:txBody>
      </p:sp>
      <p:sp>
        <p:nvSpPr>
          <p:cNvPr id="5" name="a0-sub-27"/>
          <p:cNvSpPr txBox="1"/>
          <p:nvPr/>
        </p:nvSpPr>
        <p:spPr>
          <a:xfrm>
            <a:off x="1344168" y="896112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and operators turn ticket inputs into a final fare</a:t>
            </a:r>
            <a:endParaRPr lang="en-US" sz="1600" dirty="0"/>
          </a:p>
        </p:txBody>
      </p:sp>
      <p:sp>
        <p:nvSpPr>
          <p:cNvPr id="6" name="a1-card-28"/>
          <p:cNvSpPr/>
          <p:nvPr/>
        </p:nvSpPr>
        <p:spPr>
          <a:xfrm>
            <a:off x="548640" y="1463040"/>
            <a:ext cx="3291840" cy="246888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312E81">
                <a:alpha val="18000"/>
              </a:srgbClr>
            </a:outerShdw>
          </a:effectLst>
        </p:spPr>
      </p:sp>
      <p:sp>
        <p:nvSpPr>
          <p:cNvPr id="7" name="a1-chip-29"/>
          <p:cNvSpPr/>
          <p:nvPr/>
        </p:nvSpPr>
        <p:spPr>
          <a:xfrm>
            <a:off x="777240" y="1664208"/>
            <a:ext cx="1303020" cy="310896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USED</a:t>
            </a:r>
            <a:endParaRPr lang="en-US" sz="1100" dirty="0"/>
          </a:p>
        </p:txBody>
      </p:sp>
      <p:sp>
        <p:nvSpPr>
          <p:cNvPr id="8" name="a1-concept-30"/>
          <p:cNvSpPr/>
          <p:nvPr/>
        </p:nvSpPr>
        <p:spPr>
          <a:xfrm>
            <a:off x="777240" y="2084832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 the double type</a:t>
            </a:r>
            <a:endParaRPr lang="en-US" sz="1400" dirty="0"/>
          </a:p>
        </p:txBody>
      </p:sp>
      <p:sp>
        <p:nvSpPr>
          <p:cNvPr id="9" name="a1-concept-31"/>
          <p:cNvSpPr/>
          <p:nvPr/>
        </p:nvSpPr>
        <p:spPr>
          <a:xfrm>
            <a:off x="777240" y="2523744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FCE7F3"/>
          </a:solidFill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&amp; assignment</a:t>
            </a:r>
            <a:endParaRPr lang="en-US" sz="1400" dirty="0"/>
          </a:p>
        </p:txBody>
      </p:sp>
      <p:sp>
        <p:nvSpPr>
          <p:cNvPr id="10" name="a1-concept-32"/>
          <p:cNvSpPr/>
          <p:nvPr/>
        </p:nvSpPr>
        <p:spPr>
          <a:xfrm>
            <a:off x="777240" y="2962656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Expressions</a:t>
            </a:r>
            <a:endParaRPr lang="en-US" sz="1400" dirty="0"/>
          </a:p>
        </p:txBody>
      </p:sp>
      <p:sp>
        <p:nvSpPr>
          <p:cNvPr id="11" name="a1-concept-33"/>
          <p:cNvSpPr/>
          <p:nvPr/>
        </p:nvSpPr>
        <p:spPr>
          <a:xfrm>
            <a:off x="777240" y="3401568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CFFAFE"/>
          </a:solidFill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operators</a:t>
            </a:r>
            <a:endParaRPr lang="en-US" sz="1400" dirty="0"/>
          </a:p>
        </p:txBody>
      </p:sp>
      <p:sp>
        <p:nvSpPr>
          <p:cNvPr id="12" name="a2-codebg-34"/>
          <p:cNvSpPr/>
          <p:nvPr/>
        </p:nvSpPr>
        <p:spPr>
          <a:xfrm>
            <a:off x="4069080" y="1463040"/>
            <a:ext cx="4617720" cy="2468880"/>
          </a:xfrm>
          <a:prstGeom prst="roundRect">
            <a:avLst>
              <a:gd name="adj" fmla="val 6667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127000" dist="38100" dir="5400000">
              <a:srgbClr val="312E81">
                <a:alpha val="18000"/>
              </a:srgbClr>
            </a:outerShdw>
          </a:effectLst>
        </p:spPr>
      </p:sp>
      <p:sp>
        <p:nvSpPr>
          <p:cNvPr id="13" name="a2-dot-35"/>
          <p:cNvSpPr/>
          <p:nvPr/>
        </p:nvSpPr>
        <p:spPr>
          <a:xfrm>
            <a:off x="4251960" y="1609344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4" name="a2-dot-36"/>
          <p:cNvSpPr/>
          <p:nvPr/>
        </p:nvSpPr>
        <p:spPr>
          <a:xfrm>
            <a:off x="4434840" y="1609344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a2-dot-37"/>
          <p:cNvSpPr/>
          <p:nvPr/>
        </p:nvSpPr>
        <p:spPr>
          <a:xfrm>
            <a:off x="4617720" y="1609344"/>
            <a:ext cx="109728" cy="10972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6" name="a2-code-38"/>
          <p:cNvSpPr txBox="1"/>
          <p:nvPr/>
        </p:nvSpPr>
        <p:spPr>
          <a:xfrm>
            <a:off x="4251960" y="1810512"/>
            <a:ext cx="4297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totalAmount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tickets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prices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discount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DE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tickets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DE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discount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totalAmount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DE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0.10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finalAmount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totalAmount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discount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</p:txBody>
      </p:sp>
      <p:sp>
        <p:nvSpPr>
          <p:cNvPr id="17" name="a3-card-39"/>
          <p:cNvSpPr/>
          <p:nvPr/>
        </p:nvSpPr>
        <p:spPr>
          <a:xfrm>
            <a:off x="548640" y="4160520"/>
            <a:ext cx="2560320" cy="1600200"/>
          </a:xfrm>
          <a:prstGeom prst="roundRect">
            <a:avLst>
              <a:gd name="adj" fmla="val 12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312E81">
                <a:alpha val="18000"/>
              </a:srgbClr>
            </a:outerShdw>
          </a:effectLst>
        </p:spPr>
      </p:sp>
      <p:sp>
        <p:nvSpPr>
          <p:cNvPr id="18" name="a3-n-40"/>
          <p:cNvSpPr/>
          <p:nvPr/>
        </p:nvSpPr>
        <p:spPr>
          <a:xfrm>
            <a:off x="749808" y="4370832"/>
            <a:ext cx="566928" cy="566928"/>
          </a:xfrm>
          <a:prstGeom prst="ellipse">
            <a:avLst/>
          </a:prstGeom>
          <a:solidFill>
            <a:srgbClr val="F9731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9" name="a3-t-41"/>
          <p:cNvSpPr txBox="1"/>
          <p:nvPr/>
        </p:nvSpPr>
        <p:spPr>
          <a:xfrm>
            <a:off x="1417320" y="437083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total</a:t>
            </a:r>
            <a:endParaRPr lang="en-US" sz="1600" dirty="0"/>
          </a:p>
        </p:txBody>
      </p:sp>
      <p:sp>
        <p:nvSpPr>
          <p:cNvPr id="20" name="a3-d-42"/>
          <p:cNvSpPr txBox="1"/>
          <p:nvPr/>
        </p:nvSpPr>
        <p:spPr>
          <a:xfrm>
            <a:off x="749808" y="5029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tickets × price</a:t>
            </a:r>
            <a:endParaRPr lang="en-US" sz="1400" dirty="0"/>
          </a:p>
        </p:txBody>
      </p:sp>
      <p:sp>
        <p:nvSpPr>
          <p:cNvPr id="21" name="a4-card-43"/>
          <p:cNvSpPr/>
          <p:nvPr/>
        </p:nvSpPr>
        <p:spPr>
          <a:xfrm>
            <a:off x="3291840" y="4160520"/>
            <a:ext cx="2560320" cy="1600200"/>
          </a:xfrm>
          <a:prstGeom prst="roundRect">
            <a:avLst>
              <a:gd name="adj" fmla="val 12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312E81">
                <a:alpha val="18000"/>
              </a:srgbClr>
            </a:outerShdw>
          </a:effectLst>
        </p:spPr>
      </p:sp>
      <p:sp>
        <p:nvSpPr>
          <p:cNvPr id="22" name="a4-n-44"/>
          <p:cNvSpPr/>
          <p:nvPr/>
        </p:nvSpPr>
        <p:spPr>
          <a:xfrm>
            <a:off x="3493008" y="4370832"/>
            <a:ext cx="566928" cy="566928"/>
          </a:xfrm>
          <a:prstGeom prst="ellipse">
            <a:avLst/>
          </a:prstGeom>
          <a:solidFill>
            <a:srgbClr val="EC489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23" name="a4-t-45"/>
          <p:cNvSpPr txBox="1"/>
          <p:nvPr/>
        </p:nvSpPr>
        <p:spPr>
          <a:xfrm>
            <a:off x="4160520" y="437083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discount</a:t>
            </a:r>
            <a:endParaRPr lang="en-US" sz="1600" dirty="0"/>
          </a:p>
        </p:txBody>
      </p:sp>
      <p:sp>
        <p:nvSpPr>
          <p:cNvPr id="24" name="a4-d-46"/>
          <p:cNvSpPr txBox="1"/>
          <p:nvPr/>
        </p:nvSpPr>
        <p:spPr>
          <a:xfrm>
            <a:off x="3493008" y="5029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5+ tickets → 10% off</a:t>
            </a:r>
            <a:endParaRPr lang="en-US" sz="1400" dirty="0"/>
          </a:p>
        </p:txBody>
      </p:sp>
      <p:sp>
        <p:nvSpPr>
          <p:cNvPr id="25" name="a5-card-47"/>
          <p:cNvSpPr/>
          <p:nvPr/>
        </p:nvSpPr>
        <p:spPr>
          <a:xfrm>
            <a:off x="6035040" y="4160520"/>
            <a:ext cx="2560320" cy="1600200"/>
          </a:xfrm>
          <a:prstGeom prst="roundRect">
            <a:avLst>
              <a:gd name="adj" fmla="val 12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312E81">
                <a:alpha val="18000"/>
              </a:srgbClr>
            </a:outerShdw>
          </a:effectLst>
        </p:spPr>
      </p:sp>
      <p:sp>
        <p:nvSpPr>
          <p:cNvPr id="26" name="a5-n-48"/>
          <p:cNvSpPr/>
          <p:nvPr/>
        </p:nvSpPr>
        <p:spPr>
          <a:xfrm>
            <a:off x="6236208" y="4370832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7" name="a5-t-49"/>
          <p:cNvSpPr txBox="1"/>
          <p:nvPr/>
        </p:nvSpPr>
        <p:spPr>
          <a:xfrm>
            <a:off x="6903720" y="437083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final fare</a:t>
            </a:r>
            <a:endParaRPr lang="en-US" sz="1600" dirty="0"/>
          </a:p>
        </p:txBody>
      </p:sp>
      <p:sp>
        <p:nvSpPr>
          <p:cNvPr id="28" name="a5-d-50"/>
          <p:cNvSpPr txBox="1"/>
          <p:nvPr/>
        </p:nvSpPr>
        <p:spPr>
          <a:xfrm>
            <a:off x="6236208" y="5029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− discount</a:t>
            </a:r>
            <a:endParaRPr lang="en-US" sz="1400" dirty="0"/>
          </a:p>
        </p:txBody>
      </p:sp>
      <p:pic>
        <p:nvPicPr>
          <p:cNvPr id="29" name="a6-gif-51" descr="Animated calculator working out a ticket fa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1463040"/>
            <a:ext cx="2743200" cy="2350008"/>
          </a:xfrm>
          <a:prstGeom prst="rect">
            <a:avLst/>
          </a:prstGeom>
        </p:spPr>
      </p:pic>
      <p:sp>
        <p:nvSpPr>
          <p:cNvPr id="30" name="a7-card-52"/>
          <p:cNvSpPr/>
          <p:nvPr/>
        </p:nvSpPr>
        <p:spPr>
          <a:xfrm>
            <a:off x="8915400" y="4023360"/>
            <a:ext cx="2743200" cy="1737360"/>
          </a:xfrm>
          <a:prstGeom prst="roundRect">
            <a:avLst>
              <a:gd name="adj" fmla="val 11579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127000" dist="38100" dir="5400000">
              <a:srgbClr val="312E81">
                <a:alpha val="18000"/>
              </a:srgbClr>
            </a:outerShdw>
          </a:effectLst>
        </p:spPr>
      </p:sp>
      <p:sp>
        <p:nvSpPr>
          <p:cNvPr id="31" name="a7-why-53"/>
          <p:cNvSpPr txBox="1"/>
          <p:nvPr/>
        </p:nvSpPr>
        <p:spPr>
          <a:xfrm>
            <a:off x="9098280" y="416052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DE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calculates the total, checks discount eligibility, and finds the final amount.</a:t>
            </a:r>
            <a:endParaRPr lang="en-US" sz="1500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6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3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-bg_lilac" descr="Animated backg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a0-num-54"/>
          <p:cNvSpPr/>
          <p:nvPr/>
        </p:nvSpPr>
        <p:spPr>
          <a:xfrm>
            <a:off x="502920" y="384048"/>
            <a:ext cx="658368" cy="658368"/>
          </a:xfrm>
          <a:prstGeom prst="ellipse">
            <a:avLst/>
          </a:prstGeom>
          <a:solidFill>
            <a:srgbClr val="DB2777"/>
          </a:solidFill>
          <a:ln/>
          <a:effectLst>
            <a:outerShdw sx="100000" sy="100000" kx="0" ky="0" algn="bl" rotWithShape="0" blurRad="127000" dist="38100" dir="5400000">
              <a:srgbClr val="312E81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4" name="a0-title-55"/>
          <p:cNvSpPr txBox="1"/>
          <p:nvPr/>
        </p:nvSpPr>
        <p:spPr>
          <a:xfrm>
            <a:off x="1325880" y="329184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&amp; Decision Making</a:t>
            </a:r>
            <a:endParaRPr lang="en-US" sz="3400" dirty="0"/>
          </a:p>
        </p:txBody>
      </p:sp>
      <p:sp>
        <p:nvSpPr>
          <p:cNvPr id="5" name="a0-sub-56"/>
          <p:cNvSpPr txBox="1"/>
          <p:nvPr/>
        </p:nvSpPr>
        <p:spPr>
          <a:xfrm>
            <a:off x="1344168" y="896112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responds differently to valid and invalid inputs</a:t>
            </a:r>
            <a:endParaRPr lang="en-US" sz="1600" dirty="0"/>
          </a:p>
        </p:txBody>
      </p:sp>
      <p:pic>
        <p:nvPicPr>
          <p:cNvPr id="6" name="a1-gif-57" descr="Animated traffic light and gate letting a bus pass when input is val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4023360" cy="3081528"/>
          </a:xfrm>
          <a:prstGeom prst="rect">
            <a:avLst/>
          </a:prstGeom>
        </p:spPr>
      </p:pic>
      <p:sp>
        <p:nvSpPr>
          <p:cNvPr id="7" name="a2-flow-58"/>
          <p:cNvSpPr/>
          <p:nvPr/>
        </p:nvSpPr>
        <p:spPr>
          <a:xfrm>
            <a:off x="548640" y="4709160"/>
            <a:ext cx="868680" cy="43891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</p:txBody>
      </p:sp>
      <p:sp>
        <p:nvSpPr>
          <p:cNvPr id="8" name="a2-flow-59"/>
          <p:cNvSpPr/>
          <p:nvPr/>
        </p:nvSpPr>
        <p:spPr>
          <a:xfrm>
            <a:off x="1600200" y="4709160"/>
            <a:ext cx="1005840" cy="438912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400" dirty="0"/>
          </a:p>
        </p:txBody>
      </p:sp>
      <p:sp>
        <p:nvSpPr>
          <p:cNvPr id="9" name="a2-flow-60"/>
          <p:cNvSpPr/>
          <p:nvPr/>
        </p:nvSpPr>
        <p:spPr>
          <a:xfrm>
            <a:off x="2788920" y="4709160"/>
            <a:ext cx="1783080" cy="438912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/ Error</a:t>
            </a:r>
            <a:endParaRPr lang="en-US" sz="1400" dirty="0"/>
          </a:p>
        </p:txBody>
      </p:sp>
      <p:sp>
        <p:nvSpPr>
          <p:cNvPr id="10" name="a3-card-61"/>
          <p:cNvSpPr/>
          <p:nvPr/>
        </p:nvSpPr>
        <p:spPr>
          <a:xfrm>
            <a:off x="4846320" y="1463040"/>
            <a:ext cx="6812280" cy="2148840"/>
          </a:xfrm>
          <a:prstGeom prst="roundRect">
            <a:avLst>
              <a:gd name="adj" fmla="val 93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312E81">
                <a:alpha val="18000"/>
              </a:srgbClr>
            </a:outerShdw>
          </a:effectLst>
        </p:spPr>
      </p:sp>
      <p:sp>
        <p:nvSpPr>
          <p:cNvPr id="11" name="a3-chip-62"/>
          <p:cNvSpPr/>
          <p:nvPr/>
        </p:nvSpPr>
        <p:spPr>
          <a:xfrm>
            <a:off x="5074920" y="1645920"/>
            <a:ext cx="1303020" cy="310896"/>
          </a:xfrm>
          <a:prstGeom prst="roundRect">
            <a:avLst>
              <a:gd name="adj" fmla="val 50000"/>
            </a:avLst>
          </a:prstGeom>
          <a:solidFill>
            <a:srgbClr val="DB277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USED</a:t>
            </a:r>
            <a:endParaRPr lang="en-US" sz="1100" dirty="0"/>
          </a:p>
        </p:txBody>
      </p:sp>
      <p:sp>
        <p:nvSpPr>
          <p:cNvPr id="12" name="a3-list-63"/>
          <p:cNvSpPr txBox="1"/>
          <p:nvPr/>
        </p:nvSpPr>
        <p:spPr>
          <a:xfrm>
            <a:off x="5074920" y="2011680"/>
            <a:ext cx="6400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if-else validates ticket quantity and seat availability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(tickets &gt;= 5) applies a 10% discount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switch-case controls the main menu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handles an invalid menu choice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prevents fall-through into another case</a:t>
            </a:r>
            <a:endParaRPr lang="en-US" sz="1400" dirty="0"/>
          </a:p>
        </p:txBody>
      </p:sp>
      <p:sp>
        <p:nvSpPr>
          <p:cNvPr id="13" name="a4-codebg-64"/>
          <p:cNvSpPr/>
          <p:nvPr/>
        </p:nvSpPr>
        <p:spPr>
          <a:xfrm>
            <a:off x="4846320" y="3794760"/>
            <a:ext cx="6812280" cy="1481328"/>
          </a:xfrm>
          <a:prstGeom prst="roundRect">
            <a:avLst>
              <a:gd name="adj" fmla="val 11111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127000" dist="38100" dir="5400000">
              <a:srgbClr val="312E81">
                <a:alpha val="18000"/>
              </a:srgbClr>
            </a:outerShdw>
          </a:effectLst>
        </p:spPr>
      </p:sp>
      <p:sp>
        <p:nvSpPr>
          <p:cNvPr id="14" name="a4-dot-65"/>
          <p:cNvSpPr/>
          <p:nvPr/>
        </p:nvSpPr>
        <p:spPr>
          <a:xfrm>
            <a:off x="5029200" y="3941064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5" name="a4-dot-66"/>
          <p:cNvSpPr/>
          <p:nvPr/>
        </p:nvSpPr>
        <p:spPr>
          <a:xfrm>
            <a:off x="5212080" y="3941064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a4-dot-67"/>
          <p:cNvSpPr/>
          <p:nvPr/>
        </p:nvSpPr>
        <p:spPr>
          <a:xfrm>
            <a:off x="5394960" y="3941064"/>
            <a:ext cx="109728" cy="10972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7" name="a4-code-68"/>
          <p:cNvSpPr txBox="1"/>
          <p:nvPr/>
        </p:nvSpPr>
        <p:spPr>
          <a:xfrm>
            <a:off x="5029200" y="4142232"/>
            <a:ext cx="6492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tickets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DE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"Number of tickets must be greater than 0."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tickets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seats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Continue with fare calculation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8" name="a5-cap-69"/>
          <p:cNvSpPr/>
          <p:nvPr/>
        </p:nvSpPr>
        <p:spPr>
          <a:xfrm>
            <a:off x="4846320" y="5376672"/>
            <a:ext cx="6812280" cy="438912"/>
          </a:xfrm>
          <a:prstGeom prst="roundRect">
            <a:avLst>
              <a:gd name="adj" fmla="val 50000"/>
            </a:avLst>
          </a:prstGeom>
          <a:solidFill>
            <a:srgbClr val="FCE7F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selection statements, the system could not respond to different situations.</a:t>
            </a:r>
            <a:endParaRPr lang="en-US" sz="1400" dirty="0"/>
          </a:p>
        </p:txBody>
      </p:sp>
    </p:spTree>
  </p:cSld>
  <p:clrMapOvr>
    <a:masterClrMapping/>
  </p:clrMapOvr>
  <p:transition spd="slow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 animBg="1"/>
      <p:bldP spid="9" grpId="0" animBg="1"/>
      <p:bldP spid="11" grpId="0" animBg="1"/>
      <p:bldP spid="12" grpId="0" animBg="1"/>
      <p:bldP spid="17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-bg_mint" descr="Animated backg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a0-num-70"/>
          <p:cNvSpPr/>
          <p:nvPr/>
        </p:nvSpPr>
        <p:spPr>
          <a:xfrm>
            <a:off x="502920" y="384048"/>
            <a:ext cx="658368" cy="658368"/>
          </a:xfrm>
          <a:prstGeom prst="ellipse">
            <a:avLst/>
          </a:prstGeom>
          <a:solidFill>
            <a:srgbClr val="0891B2"/>
          </a:solidFill>
          <a:ln/>
          <a:effectLst>
            <a:outerShdw sx="100000" sy="100000" kx="0" ky="0" algn="bl" rotWithShape="0" blurRad="127000" dist="38100" dir="5400000">
              <a:srgbClr val="312E81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4" name="a0-title-71"/>
          <p:cNvSpPr txBox="1"/>
          <p:nvPr/>
        </p:nvSpPr>
        <p:spPr>
          <a:xfrm>
            <a:off x="1325880" y="329184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Switch-case: Menu Selection</a:t>
            </a:r>
            <a:endParaRPr lang="en-US" sz="3400" dirty="0"/>
          </a:p>
        </p:txBody>
      </p:sp>
      <p:sp>
        <p:nvSpPr>
          <p:cNvPr id="5" name="a0-sub-72"/>
          <p:cNvSpPr txBox="1"/>
          <p:nvPr/>
        </p:nvSpPr>
        <p:spPr>
          <a:xfrm>
            <a:off x="1344168" y="896112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menu routes the user to the correct operation</a:t>
            </a:r>
            <a:endParaRPr lang="en-US" sz="1600" dirty="0"/>
          </a:p>
        </p:txBody>
      </p:sp>
      <p:sp>
        <p:nvSpPr>
          <p:cNvPr id="6" name="a1-codebg-73"/>
          <p:cNvSpPr/>
          <p:nvPr/>
        </p:nvSpPr>
        <p:spPr>
          <a:xfrm>
            <a:off x="548640" y="1463040"/>
            <a:ext cx="3566160" cy="4343400"/>
          </a:xfrm>
          <a:prstGeom prst="roundRect">
            <a:avLst>
              <a:gd name="adj" fmla="val 4615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127000" dist="38100" dir="5400000">
              <a:srgbClr val="312E81">
                <a:alpha val="18000"/>
              </a:srgbClr>
            </a:outerShdw>
          </a:effectLst>
        </p:spPr>
      </p:sp>
      <p:sp>
        <p:nvSpPr>
          <p:cNvPr id="7" name="a1-dot-74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a1-dot-75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a1-dot-76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a1-code-77"/>
          <p:cNvSpPr txBox="1"/>
          <p:nvPr/>
        </p:nvSpPr>
        <p:spPr>
          <a:xfrm>
            <a:off x="731520" y="1810512"/>
            <a:ext cx="324612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pPr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choice</a:t>
            </a:r>
            <a:pPr indent="0" marL="0">
              <a:buNone/>
            </a:pPr>
            <a:r>
              <a:rPr lang="en-US" sz="14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4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DE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View Available Buses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indent="0" marL="0">
              <a:buNone/>
            </a:pPr>
            <a:r>
              <a:rPr lang="en-US" sz="14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4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DE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Reserve Tickets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indent="0" marL="0">
              <a:buNone/>
            </a:pPr>
            <a:r>
              <a:rPr lang="en-US" sz="14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4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DE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indent="0" marL="0">
              <a:buNone/>
            </a:pPr>
            <a:r>
              <a:rPr lang="en-US" sz="14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4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pPr indent="0" marL="0">
              <a:buNone/>
            </a:pPr>
            <a:r>
              <a:rPr lang="en-US" sz="14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Invalid choice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1" name="a2-card-78"/>
          <p:cNvSpPr/>
          <p:nvPr/>
        </p:nvSpPr>
        <p:spPr>
          <a:xfrm>
            <a:off x="4343400" y="1463040"/>
            <a:ext cx="3703320" cy="4343400"/>
          </a:xfrm>
          <a:prstGeom prst="roundRect">
            <a:avLst>
              <a:gd name="adj" fmla="val 54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312E81">
                <a:alpha val="18000"/>
              </a:srgbClr>
            </a:outerShdw>
          </a:effectLst>
        </p:spPr>
      </p:sp>
      <p:sp>
        <p:nvSpPr>
          <p:cNvPr id="12" name="a2-chip-79"/>
          <p:cNvSpPr/>
          <p:nvPr/>
        </p:nvSpPr>
        <p:spPr>
          <a:xfrm>
            <a:off x="4572000" y="1664208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USER SEES</a:t>
            </a:r>
            <a:endParaRPr lang="en-US" sz="1100" dirty="0"/>
          </a:p>
        </p:txBody>
      </p:sp>
      <p:sp>
        <p:nvSpPr>
          <p:cNvPr id="13" name="a3-menu-80"/>
          <p:cNvSpPr/>
          <p:nvPr/>
        </p:nvSpPr>
        <p:spPr>
          <a:xfrm>
            <a:off x="4572000" y="2148840"/>
            <a:ext cx="3246120" cy="54864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/>
          <a:effectLst>
            <a:outerShdw sx="100000" sy="100000" kx="0" ky="0" algn="bl" rotWithShape="0" blurRad="127000" dist="38100" dir="5400000">
              <a:srgbClr val="312E81">
                <a:alpha val="18000"/>
              </a:srgbClr>
            </a:outerShdw>
          </a:effectLst>
        </p:spPr>
        <p:txBody>
          <a:bodyPr wrap="square" lIns="0" tIns="17780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View Available Buses</a:t>
            </a:r>
            <a:endParaRPr lang="en-US" sz="1600" dirty="0"/>
          </a:p>
        </p:txBody>
      </p:sp>
      <p:sp>
        <p:nvSpPr>
          <p:cNvPr id="14" name="a4-menu-81"/>
          <p:cNvSpPr/>
          <p:nvPr/>
        </p:nvSpPr>
        <p:spPr>
          <a:xfrm>
            <a:off x="4572000" y="2862072"/>
            <a:ext cx="3246120" cy="548640"/>
          </a:xfrm>
          <a:prstGeom prst="roundRect">
            <a:avLst>
              <a:gd name="adj" fmla="val 25000"/>
            </a:avLst>
          </a:prstGeom>
          <a:solidFill>
            <a:srgbClr val="84CC16"/>
          </a:solidFill>
          <a:ln/>
          <a:effectLst>
            <a:outerShdw sx="100000" sy="100000" kx="0" ky="0" algn="bl" rotWithShape="0" blurRad="127000" dist="38100" dir="5400000">
              <a:srgbClr val="312E81">
                <a:alpha val="18000"/>
              </a:srgbClr>
            </a:outerShdw>
          </a:effectLst>
        </p:spPr>
        <p:txBody>
          <a:bodyPr wrap="square" lIns="0" tIns="17780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Reserve Tickets</a:t>
            </a:r>
            <a:endParaRPr lang="en-US" sz="1600" dirty="0"/>
          </a:p>
        </p:txBody>
      </p:sp>
      <p:sp>
        <p:nvSpPr>
          <p:cNvPr id="15" name="a5-menu-82"/>
          <p:cNvSpPr/>
          <p:nvPr/>
        </p:nvSpPr>
        <p:spPr>
          <a:xfrm>
            <a:off x="4572000" y="3575304"/>
            <a:ext cx="3246120" cy="548640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/>
          <a:effectLst>
            <a:outerShdw sx="100000" sy="100000" kx="0" ky="0" algn="bl" rotWithShape="0" blurRad="127000" dist="38100" dir="5400000">
              <a:srgbClr val="312E81">
                <a:alpha val="18000"/>
              </a:srgbClr>
            </a:outerShdw>
          </a:effectLst>
        </p:spPr>
        <p:txBody>
          <a:bodyPr wrap="square" lIns="0" tIns="17780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Exit</a:t>
            </a:r>
            <a:endParaRPr lang="en-US" sz="1600" dirty="0"/>
          </a:p>
        </p:txBody>
      </p:sp>
      <p:sp>
        <p:nvSpPr>
          <p:cNvPr id="16" name="a6-def-83"/>
          <p:cNvSpPr/>
          <p:nvPr/>
        </p:nvSpPr>
        <p:spPr>
          <a:xfrm>
            <a:off x="4572000" y="4370832"/>
            <a:ext cx="3246120" cy="457200"/>
          </a:xfrm>
          <a:prstGeom prst="roundRect">
            <a:avLst>
              <a:gd name="adj" fmla="val 30000"/>
            </a:avLst>
          </a:prstGeom>
          <a:solidFill>
            <a:srgbClr val="F3E8FF"/>
          </a:solidFill>
          <a:ln/>
        </p:spPr>
        <p:txBody>
          <a:bodyPr wrap="square" lIns="0" tIns="17780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2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other number?</a:t>
            </a:r>
            <a:endParaRPr lang="en-US" sz="1500" dirty="0"/>
          </a:p>
        </p:txBody>
      </p:sp>
      <p:sp>
        <p:nvSpPr>
          <p:cNvPr id="17" name="a6-note-84"/>
          <p:cNvSpPr txBox="1"/>
          <p:nvPr/>
        </p:nvSpPr>
        <p:spPr>
          <a:xfrm>
            <a:off x="4572000" y="489204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branch handles any choice outside the listed options.</a:t>
            </a:r>
            <a:endParaRPr lang="en-US" sz="1400" dirty="0"/>
          </a:p>
        </p:txBody>
      </p:sp>
      <p:pic>
        <p:nvPicPr>
          <p:cNvPr id="18" name="a7-gif-85" descr="Animated signpost lighting up case 1, case 2, case 3 and default in tur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63040"/>
            <a:ext cx="3383280" cy="2898648"/>
          </a:xfrm>
          <a:prstGeom prst="rect">
            <a:avLst/>
          </a:prstGeom>
        </p:spPr>
      </p:pic>
      <p:sp>
        <p:nvSpPr>
          <p:cNvPr id="19" name="a8-cap-86"/>
          <p:cNvSpPr/>
          <p:nvPr/>
        </p:nvSpPr>
        <p:spPr>
          <a:xfrm>
            <a:off x="8275320" y="4526280"/>
            <a:ext cx="3383280" cy="914400"/>
          </a:xfrm>
          <a:prstGeom prst="roundRect">
            <a:avLst>
              <a:gd name="adj" fmla="val 20000"/>
            </a:avLst>
          </a:prstGeom>
          <a:solidFill>
            <a:srgbClr val="EC4899"/>
          </a:solidFill>
          <a:ln/>
          <a:effectLst>
            <a:outerShdw sx="100000" sy="100000" kx="0" ky="0" algn="bl" rotWithShape="0" blurRad="127000" dist="38100" dir="5400000">
              <a:srgbClr val="312E81">
                <a:alpha val="18000"/>
              </a:srgbClr>
            </a:outerShdw>
          </a:effectLst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case maps a menu number to one action; break stops it there.</a:t>
            </a:r>
            <a:endParaRPr lang="en-US" sz="1500" dirty="0"/>
          </a:p>
        </p:txBody>
      </p:sp>
    </p:spTree>
  </p:cSld>
  <p:clrMapOvr>
    <a:masterClrMapping/>
  </p:clrMapOvr>
  <p:transition spd="slow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-bg_peach" descr="Animated backg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a0-num-87"/>
          <p:cNvSpPr/>
          <p:nvPr/>
        </p:nvSpPr>
        <p:spPr>
          <a:xfrm>
            <a:off x="502920" y="384048"/>
            <a:ext cx="658368" cy="658368"/>
          </a:xfrm>
          <a:prstGeom prst="ellipse">
            <a:avLst/>
          </a:prstGeom>
          <a:solidFill>
            <a:srgbClr val="16A34A"/>
          </a:solidFill>
          <a:ln/>
          <a:effectLst>
            <a:outerShdw sx="100000" sy="100000" kx="0" ky="0" algn="bl" rotWithShape="0" blurRad="127000" dist="38100" dir="5400000">
              <a:srgbClr val="312E81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/>
          </a:p>
        </p:txBody>
      </p:sp>
      <p:sp>
        <p:nvSpPr>
          <p:cNvPr id="4" name="a0-title-88"/>
          <p:cNvSpPr txBox="1"/>
          <p:nvPr/>
        </p:nvSpPr>
        <p:spPr>
          <a:xfrm>
            <a:off x="1325880" y="329184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Loops</a:t>
            </a:r>
            <a:endParaRPr lang="en-US" sz="3400" dirty="0"/>
          </a:p>
        </p:txBody>
      </p:sp>
      <p:sp>
        <p:nvSpPr>
          <p:cNvPr id="5" name="a0-sub-89"/>
          <p:cNvSpPr txBox="1"/>
          <p:nvPr/>
        </p:nvSpPr>
        <p:spPr>
          <a:xfrm>
            <a:off x="1344168" y="896112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helps the system display buses and repeat the menu</a:t>
            </a:r>
            <a:endParaRPr lang="en-US" sz="1600" dirty="0"/>
          </a:p>
        </p:txBody>
      </p:sp>
      <p:pic>
        <p:nvPicPr>
          <p:cNvPr id="6" name="a1-gif-90" descr="Animated bus driving around a loop track, counting i from 0 to 4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4572000" cy="3502152"/>
          </a:xfrm>
          <a:prstGeom prst="rect">
            <a:avLst/>
          </a:prstGeom>
        </p:spPr>
      </p:pic>
      <p:sp>
        <p:nvSpPr>
          <p:cNvPr id="7" name="a2-cap-91"/>
          <p:cNvSpPr/>
          <p:nvPr/>
        </p:nvSpPr>
        <p:spPr>
          <a:xfrm>
            <a:off x="548640" y="5120640"/>
            <a:ext cx="4572000" cy="502920"/>
          </a:xfrm>
          <a:prstGeom prst="roundRect">
            <a:avLst>
              <a:gd name="adj" fmla="val 49091"/>
            </a:avLst>
          </a:prstGeom>
          <a:solidFill>
            <a:srgbClr val="16A3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lap, every stop: i goes 0 → 4</a:t>
            </a:r>
            <a:endParaRPr lang="en-US" sz="1600" dirty="0"/>
          </a:p>
        </p:txBody>
      </p:sp>
      <p:sp>
        <p:nvSpPr>
          <p:cNvPr id="8" name="a3-card-92"/>
          <p:cNvSpPr/>
          <p:nvPr/>
        </p:nvSpPr>
        <p:spPr>
          <a:xfrm>
            <a:off x="5394960" y="1463040"/>
            <a:ext cx="626364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312E81">
                <a:alpha val="18000"/>
              </a:srgbClr>
            </a:outerShdw>
          </a:effectLst>
        </p:spPr>
      </p:sp>
      <p:sp>
        <p:nvSpPr>
          <p:cNvPr id="9" name="a3-chip-93"/>
          <p:cNvSpPr/>
          <p:nvPr/>
        </p:nvSpPr>
        <p:spPr>
          <a:xfrm>
            <a:off x="5623560" y="164592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</a:t>
            </a:r>
            <a:endParaRPr lang="en-US" sz="1100" dirty="0"/>
          </a:p>
        </p:txBody>
      </p:sp>
      <p:sp>
        <p:nvSpPr>
          <p:cNvPr id="10" name="a3-codebg-94"/>
          <p:cNvSpPr/>
          <p:nvPr/>
        </p:nvSpPr>
        <p:spPr>
          <a:xfrm>
            <a:off x="5623560" y="2057400"/>
            <a:ext cx="3520440" cy="1188720"/>
          </a:xfrm>
          <a:prstGeom prst="roundRect">
            <a:avLst>
              <a:gd name="adj" fmla="val 13846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127000" dist="38100" dir="5400000">
              <a:srgbClr val="312E81">
                <a:alpha val="18000"/>
              </a:srgbClr>
            </a:outerShdw>
          </a:effectLst>
        </p:spPr>
      </p:sp>
      <p:sp>
        <p:nvSpPr>
          <p:cNvPr id="11" name="a3-dot-95"/>
          <p:cNvSpPr/>
          <p:nvPr/>
        </p:nvSpPr>
        <p:spPr>
          <a:xfrm>
            <a:off x="5806440" y="2203704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2" name="a3-dot-96"/>
          <p:cNvSpPr/>
          <p:nvPr/>
        </p:nvSpPr>
        <p:spPr>
          <a:xfrm>
            <a:off x="5989320" y="2203704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a3-dot-97"/>
          <p:cNvSpPr/>
          <p:nvPr/>
        </p:nvSpPr>
        <p:spPr>
          <a:xfrm>
            <a:off x="6172200" y="2203704"/>
            <a:ext cx="109728" cy="10972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4" name="a3-code-98"/>
          <p:cNvSpPr txBox="1"/>
          <p:nvPr/>
        </p:nvSpPr>
        <p:spPr>
          <a:xfrm>
            <a:off x="5806440" y="240487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DE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busNames</a:t>
            </a:r>
            <a:pPr indent="0" marL="0">
              <a:buNone/>
            </a:pPr>
            <a:r>
              <a:rPr lang="en-US" sz="11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indent="0" marL="0">
              <a:buNone/>
            </a:pPr>
            <a:r>
              <a:rPr lang="en-US" sz="11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1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1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1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display bus details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a4-why-99"/>
          <p:cNvSpPr txBox="1"/>
          <p:nvPr/>
        </p:nvSpPr>
        <p:spPr>
          <a:xfrm>
            <a:off x="9326880" y="164592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writing separate code for every bus, the loop displays all buses automatically.</a:t>
            </a:r>
            <a:endParaRPr lang="en-US" sz="1500" dirty="0"/>
          </a:p>
        </p:txBody>
      </p:sp>
      <p:sp>
        <p:nvSpPr>
          <p:cNvPr id="16" name="a5-card-100"/>
          <p:cNvSpPr/>
          <p:nvPr/>
        </p:nvSpPr>
        <p:spPr>
          <a:xfrm>
            <a:off x="5394960" y="3657600"/>
            <a:ext cx="626364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312E81">
                <a:alpha val="18000"/>
              </a:srgbClr>
            </a:outerShdw>
          </a:effectLst>
        </p:spPr>
      </p:sp>
      <p:sp>
        <p:nvSpPr>
          <p:cNvPr id="17" name="a5-chip-101"/>
          <p:cNvSpPr/>
          <p:nvPr/>
        </p:nvSpPr>
        <p:spPr>
          <a:xfrm>
            <a:off x="5623560" y="3840480"/>
            <a:ext cx="1303020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DO-WHILE LOOP</a:t>
            </a:r>
            <a:endParaRPr lang="en-US" sz="1100" dirty="0"/>
          </a:p>
        </p:txBody>
      </p:sp>
      <p:sp>
        <p:nvSpPr>
          <p:cNvPr id="18" name="a5-codebg-102"/>
          <p:cNvSpPr/>
          <p:nvPr/>
        </p:nvSpPr>
        <p:spPr>
          <a:xfrm>
            <a:off x="5623560" y="4251960"/>
            <a:ext cx="3520440" cy="1188720"/>
          </a:xfrm>
          <a:prstGeom prst="roundRect">
            <a:avLst>
              <a:gd name="adj" fmla="val 13846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127000" dist="38100" dir="5400000">
              <a:srgbClr val="312E81">
                <a:alpha val="18000"/>
              </a:srgbClr>
            </a:outerShdw>
          </a:effectLst>
        </p:spPr>
      </p:sp>
      <p:sp>
        <p:nvSpPr>
          <p:cNvPr id="19" name="a5-dot-103"/>
          <p:cNvSpPr/>
          <p:nvPr/>
        </p:nvSpPr>
        <p:spPr>
          <a:xfrm>
            <a:off x="5806440" y="4398264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0" name="a5-dot-104"/>
          <p:cNvSpPr/>
          <p:nvPr/>
        </p:nvSpPr>
        <p:spPr>
          <a:xfrm>
            <a:off x="5989320" y="4398264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a5-dot-105"/>
          <p:cNvSpPr/>
          <p:nvPr/>
        </p:nvSpPr>
        <p:spPr>
          <a:xfrm>
            <a:off x="6172200" y="4398264"/>
            <a:ext cx="109728" cy="10972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2" name="a5-code-106"/>
          <p:cNvSpPr txBox="1"/>
          <p:nvPr/>
        </p:nvSpPr>
        <p:spPr>
          <a:xfrm>
            <a:off x="5806440" y="459943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menu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choice</a:t>
            </a:r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buNone/>
            </a:pPr>
            <a:r>
              <a:rPr lang="en-US" sz="11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DE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23" name="a6-why-107"/>
          <p:cNvSpPr txBox="1"/>
          <p:nvPr/>
        </p:nvSpPr>
        <p:spPr>
          <a:xfrm>
            <a:off x="9326880" y="384048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menu keeps appearing until the user chooses Exit.</a:t>
            </a:r>
            <a:endParaRPr lang="en-US" sz="1500" dirty="0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9" grpId="0" animBg="1"/>
      <p:bldP spid="14" grpId="0" animBg="1"/>
      <p:bldP spid="15" grpId="0" animBg="1"/>
      <p:bldP spid="17" grpId="0" animBg="1"/>
      <p:bldP spid="22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-bg_lilac" descr="Animated backg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a0-num-108"/>
          <p:cNvSpPr/>
          <p:nvPr/>
        </p:nvSpPr>
        <p:spPr>
          <a:xfrm>
            <a:off x="502920" y="384048"/>
            <a:ext cx="658368" cy="658368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127000" dist="38100" dir="5400000">
              <a:srgbClr val="312E81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000" dirty="0"/>
          </a:p>
        </p:txBody>
      </p:sp>
      <p:sp>
        <p:nvSpPr>
          <p:cNvPr id="4" name="a0-title-109"/>
          <p:cNvSpPr txBox="1"/>
          <p:nvPr/>
        </p:nvSpPr>
        <p:spPr>
          <a:xfrm>
            <a:off x="1325880" y="329184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 &amp; Arrays</a:t>
            </a:r>
            <a:endParaRPr lang="en-US" sz="3400" dirty="0"/>
          </a:p>
        </p:txBody>
      </p:sp>
      <p:sp>
        <p:nvSpPr>
          <p:cNvPr id="5" name="a0-sub-110"/>
          <p:cNvSpPr txBox="1"/>
          <p:nvPr/>
        </p:nvSpPr>
        <p:spPr>
          <a:xfrm>
            <a:off x="1344168" y="896112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code organised and manage multiple buses efficiently</a:t>
            </a:r>
            <a:endParaRPr lang="en-US" sz="1600" dirty="0"/>
          </a:p>
        </p:txBody>
      </p:sp>
      <p:sp>
        <p:nvSpPr>
          <p:cNvPr id="6" name="a1-card-111"/>
          <p:cNvSpPr/>
          <p:nvPr/>
        </p:nvSpPr>
        <p:spPr>
          <a:xfrm>
            <a:off x="548640" y="1463040"/>
            <a:ext cx="5486400" cy="4343400"/>
          </a:xfrm>
          <a:prstGeom prst="roundRect">
            <a:avLst>
              <a:gd name="adj" fmla="val 4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312E81">
                <a:alpha val="18000"/>
              </a:srgbClr>
            </a:outerShdw>
          </a:effectLst>
        </p:spPr>
      </p:sp>
      <p:sp>
        <p:nvSpPr>
          <p:cNvPr id="7" name="a1-chip-112"/>
          <p:cNvSpPr/>
          <p:nvPr/>
        </p:nvSpPr>
        <p:spPr>
          <a:xfrm>
            <a:off x="777240" y="1664208"/>
            <a:ext cx="836676" cy="310896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100" dirty="0"/>
          </a:p>
        </p:txBody>
      </p:sp>
      <p:sp>
        <p:nvSpPr>
          <p:cNvPr id="8" name="a2-codebg-113"/>
          <p:cNvSpPr/>
          <p:nvPr/>
        </p:nvSpPr>
        <p:spPr>
          <a:xfrm>
            <a:off x="777240" y="2103120"/>
            <a:ext cx="3063240" cy="1600200"/>
          </a:xfrm>
          <a:prstGeom prst="roundRect">
            <a:avLst>
              <a:gd name="adj" fmla="val 10286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127000" dist="38100" dir="5400000">
              <a:srgbClr val="312E81">
                <a:alpha val="18000"/>
              </a:srgbClr>
            </a:outerShdw>
          </a:effectLst>
        </p:spPr>
      </p:sp>
      <p:sp>
        <p:nvSpPr>
          <p:cNvPr id="9" name="a2-dot-114"/>
          <p:cNvSpPr/>
          <p:nvPr/>
        </p:nvSpPr>
        <p:spPr>
          <a:xfrm>
            <a:off x="960120" y="2249424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0" name="a2-dot-115"/>
          <p:cNvSpPr/>
          <p:nvPr/>
        </p:nvSpPr>
        <p:spPr>
          <a:xfrm>
            <a:off x="1143000" y="2249424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a2-dot-116"/>
          <p:cNvSpPr/>
          <p:nvPr/>
        </p:nvSpPr>
        <p:spPr>
          <a:xfrm>
            <a:off x="1325880" y="2249424"/>
            <a:ext cx="109728" cy="10972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2" name="a2-code-117"/>
          <p:cNvSpPr txBox="1"/>
          <p:nvPr/>
        </p:nvSpPr>
        <p:spPr>
          <a:xfrm>
            <a:off x="960120" y="2450592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displayBuses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busNames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seats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prices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reserveTicket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busNames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seats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prices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</p:txBody>
      </p:sp>
      <p:pic>
        <p:nvPicPr>
          <p:cNvPr id="13" name="a2-gif-118" descr="Animated turning gea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2103120"/>
            <a:ext cx="1874520" cy="1563624"/>
          </a:xfrm>
          <a:prstGeom prst="rect">
            <a:avLst/>
          </a:prstGeom>
        </p:spPr>
      </p:pic>
      <p:sp>
        <p:nvSpPr>
          <p:cNvPr id="14" name="a3-dot-119"/>
          <p:cNvSpPr/>
          <p:nvPr/>
        </p:nvSpPr>
        <p:spPr>
          <a:xfrm>
            <a:off x="777240" y="3959352"/>
            <a:ext cx="310896" cy="310896"/>
          </a:xfrm>
          <a:prstGeom prst="ellipse">
            <a:avLst/>
          </a:prstGeom>
          <a:solidFill>
            <a:srgbClr val="22C5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a3-row-120"/>
          <p:cNvSpPr txBox="1"/>
          <p:nvPr/>
        </p:nvSpPr>
        <p:spPr>
          <a:xfrm>
            <a:off x="1216152" y="3886200"/>
            <a:ext cx="4590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the program into smaller sections</a:t>
            </a:r>
            <a:endParaRPr lang="en-US" sz="1500" dirty="0"/>
          </a:p>
        </p:txBody>
      </p:sp>
      <p:sp>
        <p:nvSpPr>
          <p:cNvPr id="16" name="a3-dot-121"/>
          <p:cNvSpPr/>
          <p:nvPr/>
        </p:nvSpPr>
        <p:spPr>
          <a:xfrm>
            <a:off x="777240" y="4416552"/>
            <a:ext cx="310896" cy="310896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a3-row-122"/>
          <p:cNvSpPr txBox="1"/>
          <p:nvPr/>
        </p:nvSpPr>
        <p:spPr>
          <a:xfrm>
            <a:off x="1216152" y="4343400"/>
            <a:ext cx="4590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code easier to understand</a:t>
            </a:r>
            <a:endParaRPr lang="en-US" sz="1500" dirty="0"/>
          </a:p>
        </p:txBody>
      </p:sp>
      <p:sp>
        <p:nvSpPr>
          <p:cNvPr id="18" name="a4-dot-123"/>
          <p:cNvSpPr/>
          <p:nvPr/>
        </p:nvSpPr>
        <p:spPr>
          <a:xfrm>
            <a:off x="777240" y="4873752"/>
            <a:ext cx="310896" cy="310896"/>
          </a:xfrm>
          <a:prstGeom prst="ellipse">
            <a:avLst/>
          </a:prstGeom>
          <a:solidFill>
            <a:srgbClr val="F9731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a4-row-124"/>
          <p:cNvSpPr txBox="1"/>
          <p:nvPr/>
        </p:nvSpPr>
        <p:spPr>
          <a:xfrm>
            <a:off x="1216152" y="4800600"/>
            <a:ext cx="4590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repeating the same code</a:t>
            </a:r>
            <a:endParaRPr lang="en-US" sz="1500" dirty="0"/>
          </a:p>
        </p:txBody>
      </p:sp>
      <p:sp>
        <p:nvSpPr>
          <p:cNvPr id="20" name="a4-dot-125"/>
          <p:cNvSpPr/>
          <p:nvPr/>
        </p:nvSpPr>
        <p:spPr>
          <a:xfrm>
            <a:off x="777240" y="5330952"/>
            <a:ext cx="310896" cy="310896"/>
          </a:xfrm>
          <a:prstGeom prst="ellipse">
            <a:avLst/>
          </a:prstGeom>
          <a:solidFill>
            <a:srgbClr val="EC489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a4-row-126"/>
          <p:cNvSpPr txBox="1"/>
          <p:nvPr/>
        </p:nvSpPr>
        <p:spPr>
          <a:xfrm>
            <a:off x="1216152" y="5257800"/>
            <a:ext cx="4590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debugging easier</a:t>
            </a:r>
            <a:endParaRPr lang="en-US" sz="1500" dirty="0"/>
          </a:p>
        </p:txBody>
      </p:sp>
      <p:sp>
        <p:nvSpPr>
          <p:cNvPr id="22" name="a5-card-127"/>
          <p:cNvSpPr/>
          <p:nvPr/>
        </p:nvSpPr>
        <p:spPr>
          <a:xfrm>
            <a:off x="6263640" y="1463040"/>
            <a:ext cx="5394960" cy="4343400"/>
          </a:xfrm>
          <a:prstGeom prst="roundRect">
            <a:avLst>
              <a:gd name="adj" fmla="val 4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312E81">
                <a:alpha val="18000"/>
              </a:srgbClr>
            </a:outerShdw>
          </a:effectLst>
        </p:spPr>
      </p:sp>
      <p:sp>
        <p:nvSpPr>
          <p:cNvPr id="23" name="a5-chip-128"/>
          <p:cNvSpPr/>
          <p:nvPr/>
        </p:nvSpPr>
        <p:spPr>
          <a:xfrm>
            <a:off x="6492240" y="1664208"/>
            <a:ext cx="758952" cy="31089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</a:t>
            </a:r>
            <a:endParaRPr lang="en-US" sz="1100" dirty="0"/>
          </a:p>
        </p:txBody>
      </p:sp>
      <p:pic>
        <p:nvPicPr>
          <p:cNvPr id="24" name="a6-gif-129" descr="Animated array boxes filling with buses at index 0 to 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103120"/>
            <a:ext cx="4937760" cy="1947672"/>
          </a:xfrm>
          <a:prstGeom prst="rect">
            <a:avLst/>
          </a:prstGeom>
        </p:spPr>
      </p:pic>
      <p:sp>
        <p:nvSpPr>
          <p:cNvPr id="25" name="a7-codebg-130"/>
          <p:cNvSpPr/>
          <p:nvPr/>
        </p:nvSpPr>
        <p:spPr>
          <a:xfrm>
            <a:off x="6492240" y="4206240"/>
            <a:ext cx="2331720" cy="1417320"/>
          </a:xfrm>
          <a:prstGeom prst="roundRect">
            <a:avLst>
              <a:gd name="adj" fmla="val 11613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127000" dist="38100" dir="5400000">
              <a:srgbClr val="312E81">
                <a:alpha val="18000"/>
              </a:srgbClr>
            </a:outerShdw>
          </a:effectLst>
        </p:spPr>
      </p:sp>
      <p:sp>
        <p:nvSpPr>
          <p:cNvPr id="26" name="a7-dot-131"/>
          <p:cNvSpPr/>
          <p:nvPr/>
        </p:nvSpPr>
        <p:spPr>
          <a:xfrm>
            <a:off x="6675120" y="4352544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7" name="a7-dot-132"/>
          <p:cNvSpPr/>
          <p:nvPr/>
        </p:nvSpPr>
        <p:spPr>
          <a:xfrm>
            <a:off x="6858000" y="4352544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a7-dot-133"/>
          <p:cNvSpPr/>
          <p:nvPr/>
        </p:nvSpPr>
        <p:spPr>
          <a:xfrm>
            <a:off x="7040880" y="4352544"/>
            <a:ext cx="109728" cy="10972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9" name="a7-code-134"/>
          <p:cNvSpPr txBox="1"/>
          <p:nvPr/>
        </p:nvSpPr>
        <p:spPr>
          <a:xfrm>
            <a:off x="6675120" y="4553712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busNames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seats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prices</a:t>
            </a:r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</p:txBody>
      </p:sp>
      <p:sp>
        <p:nvSpPr>
          <p:cNvPr id="30" name="a7-why-135"/>
          <p:cNvSpPr txBox="1"/>
          <p:nvPr/>
        </p:nvSpPr>
        <p:spPr>
          <a:xfrm>
            <a:off x="9006840" y="4206240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store related values for several buses, making the data easier to access and manage.</a:t>
            </a:r>
            <a:endParaRPr lang="en-US" sz="1500" dirty="0"/>
          </a:p>
        </p:txBody>
      </p:sp>
    </p:spTree>
  </p:cSld>
  <p:clrMapOvr>
    <a:masterClrMapping/>
  </p:clrMapOvr>
  <p:transition spd="slow"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9" grpId="0" animBg="1"/>
      <p:bldP spid="3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-bg_mint" descr="Animated backg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a0-num-136"/>
          <p:cNvSpPr/>
          <p:nvPr/>
        </p:nvSpPr>
        <p:spPr>
          <a:xfrm>
            <a:off x="502920" y="384048"/>
            <a:ext cx="658368" cy="658368"/>
          </a:xfrm>
          <a:prstGeom prst="ellipse">
            <a:avLst/>
          </a:prstGeom>
          <a:solidFill>
            <a:srgbClr val="CA8A04"/>
          </a:solidFill>
          <a:ln/>
          <a:effectLst>
            <a:outerShdw sx="100000" sy="100000" kx="0" ky="0" algn="bl" rotWithShape="0" blurRad="127000" dist="38100" dir="5400000">
              <a:srgbClr val="312E81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000" dirty="0"/>
          </a:p>
        </p:txBody>
      </p:sp>
      <p:sp>
        <p:nvSpPr>
          <p:cNvPr id="4" name="a0-title-137"/>
          <p:cNvSpPr txBox="1"/>
          <p:nvPr/>
        </p:nvSpPr>
        <p:spPr>
          <a:xfrm>
            <a:off x="1325880" y="329184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JavaScript: Web Interface</a:t>
            </a:r>
            <a:endParaRPr lang="en-US" sz="3400" dirty="0"/>
          </a:p>
        </p:txBody>
      </p:sp>
      <p:sp>
        <p:nvSpPr>
          <p:cNvPr id="5" name="a0-sub-138"/>
          <p:cNvSpPr txBox="1"/>
          <p:nvPr/>
        </p:nvSpPr>
        <p:spPr>
          <a:xfrm>
            <a:off x="1344168" y="896112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 interactive browser-based booking experience</a:t>
            </a:r>
            <a:endParaRPr lang="en-US" sz="1600" dirty="0"/>
          </a:p>
        </p:txBody>
      </p:sp>
      <p:pic>
        <p:nvPicPr>
          <p:cNvPr id="6" name="a1-gif-139" descr="Animated browser seat picker: cursor selects seats and the fare updat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5486400" cy="4032504"/>
          </a:xfrm>
          <a:prstGeom prst="rect">
            <a:avLst/>
          </a:prstGeom>
        </p:spPr>
      </p:pic>
      <p:sp>
        <p:nvSpPr>
          <p:cNvPr id="7" name="a2-card-140"/>
          <p:cNvSpPr/>
          <p:nvPr/>
        </p:nvSpPr>
        <p:spPr>
          <a:xfrm>
            <a:off x="6309360" y="1463040"/>
            <a:ext cx="5349240" cy="3429000"/>
          </a:xfrm>
          <a:prstGeom prst="roundRect">
            <a:avLst>
              <a:gd name="adj" fmla="val 58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312E81">
                <a:alpha val="18000"/>
              </a:srgbClr>
            </a:outerShdw>
          </a:effectLst>
        </p:spPr>
      </p:sp>
      <p:sp>
        <p:nvSpPr>
          <p:cNvPr id="8" name="a2-chip-141"/>
          <p:cNvSpPr/>
          <p:nvPr/>
        </p:nvSpPr>
        <p:spPr>
          <a:xfrm>
            <a:off x="6537960" y="1664208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FRONT-END RESPONSIBILITIES</a:t>
            </a:r>
            <a:endParaRPr lang="en-US" sz="1100" dirty="0"/>
          </a:p>
        </p:txBody>
      </p:sp>
      <p:sp>
        <p:nvSpPr>
          <p:cNvPr id="9" name="a3-dot-142"/>
          <p:cNvSpPr/>
          <p:nvPr/>
        </p:nvSpPr>
        <p:spPr>
          <a:xfrm>
            <a:off x="6537960" y="2212848"/>
            <a:ext cx="310896" cy="310896"/>
          </a:xfrm>
          <a:prstGeom prst="ellipse">
            <a:avLst/>
          </a:prstGeom>
          <a:solidFill>
            <a:srgbClr val="EAB30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a3-row-143"/>
          <p:cNvSpPr txBox="1"/>
          <p:nvPr/>
        </p:nvSpPr>
        <p:spPr>
          <a:xfrm>
            <a:off x="6976872" y="2103120"/>
            <a:ext cx="4498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user interactions such as form input and button clicks</a:t>
            </a:r>
            <a:endParaRPr lang="en-US" sz="1500" dirty="0"/>
          </a:p>
        </p:txBody>
      </p:sp>
      <p:sp>
        <p:nvSpPr>
          <p:cNvPr id="11" name="a3-dot-144"/>
          <p:cNvSpPr/>
          <p:nvPr/>
        </p:nvSpPr>
        <p:spPr>
          <a:xfrm>
            <a:off x="6537960" y="2743200"/>
            <a:ext cx="310896" cy="310896"/>
          </a:xfrm>
          <a:prstGeom prst="ellipse">
            <a:avLst/>
          </a:prstGeom>
          <a:solidFill>
            <a:srgbClr val="F9731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a3-row-145"/>
          <p:cNvSpPr txBox="1"/>
          <p:nvPr/>
        </p:nvSpPr>
        <p:spPr>
          <a:xfrm>
            <a:off x="6976872" y="2633472"/>
            <a:ext cx="4498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passenger details and ticket quantity</a:t>
            </a:r>
            <a:endParaRPr lang="en-US" sz="1500" dirty="0"/>
          </a:p>
        </p:txBody>
      </p:sp>
      <p:sp>
        <p:nvSpPr>
          <p:cNvPr id="13" name="a4-dot-146"/>
          <p:cNvSpPr/>
          <p:nvPr/>
        </p:nvSpPr>
        <p:spPr>
          <a:xfrm>
            <a:off x="6537960" y="3273552"/>
            <a:ext cx="310896" cy="310896"/>
          </a:xfrm>
          <a:prstGeom prst="ellipse">
            <a:avLst/>
          </a:prstGeom>
          <a:solidFill>
            <a:srgbClr val="EC489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a4-row-147"/>
          <p:cNvSpPr txBox="1"/>
          <p:nvPr/>
        </p:nvSpPr>
        <p:spPr>
          <a:xfrm>
            <a:off x="6976872" y="3163824"/>
            <a:ext cx="4498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visible seat and fare information dynamically</a:t>
            </a:r>
            <a:endParaRPr lang="en-US" sz="1500" dirty="0"/>
          </a:p>
        </p:txBody>
      </p:sp>
      <p:sp>
        <p:nvSpPr>
          <p:cNvPr id="15" name="a4-dot-148"/>
          <p:cNvSpPr/>
          <p:nvPr/>
        </p:nvSpPr>
        <p:spPr>
          <a:xfrm>
            <a:off x="6537960" y="3803904"/>
            <a:ext cx="310896" cy="310896"/>
          </a:xfrm>
          <a:prstGeom prst="ellipse">
            <a:avLst/>
          </a:prstGeom>
          <a:solidFill>
            <a:srgbClr val="7C3A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a4-row-149"/>
          <p:cNvSpPr txBox="1"/>
          <p:nvPr/>
        </p:nvSpPr>
        <p:spPr>
          <a:xfrm>
            <a:off x="6976872" y="3694176"/>
            <a:ext cx="4498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immediate feedback when an input needs attention</a:t>
            </a:r>
            <a:endParaRPr lang="en-US" sz="1500" dirty="0"/>
          </a:p>
        </p:txBody>
      </p:sp>
      <p:sp>
        <p:nvSpPr>
          <p:cNvPr id="17" name="a5-dot-150"/>
          <p:cNvSpPr/>
          <p:nvPr/>
        </p:nvSpPr>
        <p:spPr>
          <a:xfrm>
            <a:off x="6537960" y="4334256"/>
            <a:ext cx="310896" cy="310896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a5-row-151"/>
          <p:cNvSpPr txBox="1"/>
          <p:nvPr/>
        </p:nvSpPr>
        <p:spPr>
          <a:xfrm>
            <a:off x="6976872" y="4224528"/>
            <a:ext cx="4498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booking interface feel responsive</a:t>
            </a:r>
            <a:endParaRPr lang="en-US" sz="1500" dirty="0"/>
          </a:p>
        </p:txBody>
      </p:sp>
      <p:sp>
        <p:nvSpPr>
          <p:cNvPr id="19" name="a6-note-152"/>
          <p:cNvSpPr/>
          <p:nvPr/>
        </p:nvSpPr>
        <p:spPr>
          <a:xfrm>
            <a:off x="6309360" y="5074920"/>
            <a:ext cx="5349240" cy="731520"/>
          </a:xfrm>
          <a:prstGeom prst="roundRect">
            <a:avLst>
              <a:gd name="adj" fmla="val 25000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27000" dist="38100" dir="5400000">
              <a:srgbClr val="312E81">
                <a:alpha val="18000"/>
              </a:srgbClr>
            </a:outerShdw>
          </a:effectLst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DE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a web interface interactive; </a:t>
            </a:r>
            <a:pPr indent="0" marL="0">
              <a:buNone/>
            </a:pPr>
            <a:r>
              <a:rPr lang="en-US" sz="1500" b="1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the console application's core logic.</a:t>
            </a:r>
            <a:endParaRPr lang="en-US" sz="1500" dirty="0"/>
          </a:p>
        </p:txBody>
      </p:sp>
    </p:spTree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-bg_peach" descr="Animated backg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a0-num-153"/>
          <p:cNvSpPr/>
          <p:nvPr/>
        </p:nvSpPr>
        <p:spPr>
          <a:xfrm>
            <a:off x="502920" y="384048"/>
            <a:ext cx="658368" cy="658368"/>
          </a:xfrm>
          <a:prstGeom prst="ellipse">
            <a:avLst/>
          </a:prstGeom>
          <a:solidFill>
            <a:srgbClr val="E11D48"/>
          </a:solidFill>
          <a:ln/>
          <a:effectLst>
            <a:outerShdw sx="100000" sy="100000" kx="0" ky="0" algn="bl" rotWithShape="0" blurRad="127000" dist="38100" dir="5400000">
              <a:srgbClr val="312E81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000" dirty="0"/>
          </a:p>
        </p:txBody>
      </p:sp>
      <p:sp>
        <p:nvSpPr>
          <p:cNvPr id="4" name="a0-title-154"/>
          <p:cNvSpPr txBox="1"/>
          <p:nvPr/>
        </p:nvSpPr>
        <p:spPr>
          <a:xfrm>
            <a:off x="1325880" y="329184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Principle of the System</a:t>
            </a:r>
            <a:endParaRPr lang="en-US" sz="3400" dirty="0"/>
          </a:p>
        </p:txBody>
      </p:sp>
      <p:sp>
        <p:nvSpPr>
          <p:cNvPr id="5" name="a0-sub-155"/>
          <p:cNvSpPr txBox="1"/>
          <p:nvPr/>
        </p:nvSpPr>
        <p:spPr>
          <a:xfrm>
            <a:off x="1344168" y="896112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bus data to a confirmed reservation</a:t>
            </a:r>
            <a:endParaRPr lang="en-US" sz="1600" dirty="0"/>
          </a:p>
        </p:txBody>
      </p:sp>
      <p:sp>
        <p:nvSpPr>
          <p:cNvPr id="6" name="a1-card-156"/>
          <p:cNvSpPr/>
          <p:nvPr/>
        </p:nvSpPr>
        <p:spPr>
          <a:xfrm>
            <a:off x="548640" y="1463040"/>
            <a:ext cx="1600200" cy="2011680"/>
          </a:xfrm>
          <a:prstGeom prst="roundRect">
            <a:avLst>
              <a:gd name="adj" fmla="val 12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312E81">
                <a:alpha val="18000"/>
              </a:srgbClr>
            </a:outerShdw>
          </a:effectLst>
        </p:spPr>
      </p:sp>
      <p:sp>
        <p:nvSpPr>
          <p:cNvPr id="7" name="a1-n-157"/>
          <p:cNvSpPr/>
          <p:nvPr/>
        </p:nvSpPr>
        <p:spPr>
          <a:xfrm>
            <a:off x="713232" y="1627632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a1-t-158"/>
          <p:cNvSpPr txBox="1"/>
          <p:nvPr/>
        </p:nvSpPr>
        <p:spPr>
          <a:xfrm>
            <a:off x="713232" y="22402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bus data</a:t>
            </a:r>
            <a:endParaRPr lang="en-US" sz="1500" dirty="0"/>
          </a:p>
        </p:txBody>
      </p:sp>
      <p:sp>
        <p:nvSpPr>
          <p:cNvPr id="9" name="a1-d-159"/>
          <p:cNvSpPr txBox="1"/>
          <p:nvPr/>
        </p:nvSpPr>
        <p:spPr>
          <a:xfrm>
            <a:off x="713232" y="274320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Names, routes, seats &amp; prices in arrays</a:t>
            </a:r>
            <a:endParaRPr lang="en-US" sz="1200" dirty="0"/>
          </a:p>
        </p:txBody>
      </p:sp>
      <p:sp>
        <p:nvSpPr>
          <p:cNvPr id="10" name="a1-card-160"/>
          <p:cNvSpPr/>
          <p:nvPr/>
        </p:nvSpPr>
        <p:spPr>
          <a:xfrm>
            <a:off x="2286000" y="1463040"/>
            <a:ext cx="1600200" cy="2011680"/>
          </a:xfrm>
          <a:prstGeom prst="roundRect">
            <a:avLst>
              <a:gd name="adj" fmla="val 12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312E81">
                <a:alpha val="18000"/>
              </a:srgbClr>
            </a:outerShdw>
          </a:effectLst>
        </p:spPr>
      </p:sp>
      <p:sp>
        <p:nvSpPr>
          <p:cNvPr id="11" name="a1-n-161"/>
          <p:cNvSpPr/>
          <p:nvPr/>
        </p:nvSpPr>
        <p:spPr>
          <a:xfrm>
            <a:off x="2450592" y="1627632"/>
            <a:ext cx="502920" cy="502920"/>
          </a:xfrm>
          <a:prstGeom prst="ellipse">
            <a:avLst/>
          </a:prstGeom>
          <a:solidFill>
            <a:srgbClr val="EC489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a1-t-162"/>
          <p:cNvSpPr txBox="1"/>
          <p:nvPr/>
        </p:nvSpPr>
        <p:spPr>
          <a:xfrm>
            <a:off x="2450592" y="22402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menu</a:t>
            </a:r>
            <a:endParaRPr lang="en-US" sz="1500" dirty="0"/>
          </a:p>
        </p:txBody>
      </p:sp>
      <p:sp>
        <p:nvSpPr>
          <p:cNvPr id="13" name="a1-d-163"/>
          <p:cNvSpPr txBox="1"/>
          <p:nvPr/>
        </p:nvSpPr>
        <p:spPr>
          <a:xfrm>
            <a:off x="2450592" y="274320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chooses an operation</a:t>
            </a:r>
            <a:endParaRPr lang="en-US" sz="1200" dirty="0"/>
          </a:p>
        </p:txBody>
      </p:sp>
      <p:sp>
        <p:nvSpPr>
          <p:cNvPr id="14" name="a2-card-164"/>
          <p:cNvSpPr/>
          <p:nvPr/>
        </p:nvSpPr>
        <p:spPr>
          <a:xfrm>
            <a:off x="4023360" y="1463040"/>
            <a:ext cx="1600200" cy="2011680"/>
          </a:xfrm>
          <a:prstGeom prst="roundRect">
            <a:avLst>
              <a:gd name="adj" fmla="val 12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312E81">
                <a:alpha val="18000"/>
              </a:srgbClr>
            </a:outerShdw>
          </a:effectLst>
        </p:spPr>
      </p:sp>
      <p:sp>
        <p:nvSpPr>
          <p:cNvPr id="15" name="a2-n-165"/>
          <p:cNvSpPr/>
          <p:nvPr/>
        </p:nvSpPr>
        <p:spPr>
          <a:xfrm>
            <a:off x="4187952" y="1627632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a2-t-166"/>
          <p:cNvSpPr txBox="1"/>
          <p:nvPr/>
        </p:nvSpPr>
        <p:spPr>
          <a:xfrm>
            <a:off x="4187952" y="22402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buses</a:t>
            </a:r>
            <a:endParaRPr lang="en-US" sz="1500" dirty="0"/>
          </a:p>
        </p:txBody>
      </p:sp>
      <p:sp>
        <p:nvSpPr>
          <p:cNvPr id="17" name="a2-d-167"/>
          <p:cNvSpPr txBox="1"/>
          <p:nvPr/>
        </p:nvSpPr>
        <p:spPr>
          <a:xfrm>
            <a:off x="4187952" y="274320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buses and their details</a:t>
            </a:r>
            <a:endParaRPr lang="en-US" sz="1200" dirty="0"/>
          </a:p>
        </p:txBody>
      </p:sp>
      <p:sp>
        <p:nvSpPr>
          <p:cNvPr id="18" name="a2-card-168"/>
          <p:cNvSpPr/>
          <p:nvPr/>
        </p:nvSpPr>
        <p:spPr>
          <a:xfrm>
            <a:off x="5760720" y="1463040"/>
            <a:ext cx="1600200" cy="2011680"/>
          </a:xfrm>
          <a:prstGeom prst="roundRect">
            <a:avLst>
              <a:gd name="adj" fmla="val 12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312E81">
                <a:alpha val="18000"/>
              </a:srgbClr>
            </a:outerShdw>
          </a:effectLst>
        </p:spPr>
      </p:sp>
      <p:sp>
        <p:nvSpPr>
          <p:cNvPr id="19" name="a2-n-169"/>
          <p:cNvSpPr/>
          <p:nvPr/>
        </p:nvSpPr>
        <p:spPr>
          <a:xfrm>
            <a:off x="5925312" y="1627632"/>
            <a:ext cx="502920" cy="502920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a2-t-170"/>
          <p:cNvSpPr txBox="1"/>
          <p:nvPr/>
        </p:nvSpPr>
        <p:spPr>
          <a:xfrm>
            <a:off x="5925312" y="22402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500" dirty="0"/>
          </a:p>
        </p:txBody>
      </p:sp>
      <p:sp>
        <p:nvSpPr>
          <p:cNvPr id="21" name="a2-d-171"/>
          <p:cNvSpPr txBox="1"/>
          <p:nvPr/>
        </p:nvSpPr>
        <p:spPr>
          <a:xfrm>
            <a:off x="5925312" y="274320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number, name &amp; ticket count</a:t>
            </a:r>
            <a:endParaRPr lang="en-US" sz="1200" dirty="0"/>
          </a:p>
        </p:txBody>
      </p:sp>
      <p:sp>
        <p:nvSpPr>
          <p:cNvPr id="22" name="a3-card-172"/>
          <p:cNvSpPr/>
          <p:nvPr/>
        </p:nvSpPr>
        <p:spPr>
          <a:xfrm>
            <a:off x="548640" y="3657600"/>
            <a:ext cx="1600200" cy="2011680"/>
          </a:xfrm>
          <a:prstGeom prst="roundRect">
            <a:avLst>
              <a:gd name="adj" fmla="val 12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312E81">
                <a:alpha val="18000"/>
              </a:srgbClr>
            </a:outerShdw>
          </a:effectLst>
        </p:spPr>
      </p:sp>
      <p:sp>
        <p:nvSpPr>
          <p:cNvPr id="23" name="a3-n-173"/>
          <p:cNvSpPr/>
          <p:nvPr/>
        </p:nvSpPr>
        <p:spPr>
          <a:xfrm>
            <a:off x="713232" y="3822192"/>
            <a:ext cx="502920" cy="502920"/>
          </a:xfrm>
          <a:prstGeom prst="ellipse">
            <a:avLst/>
          </a:prstGeom>
          <a:solidFill>
            <a:srgbClr val="22C5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a3-t-174"/>
          <p:cNvSpPr txBox="1"/>
          <p:nvPr/>
        </p:nvSpPr>
        <p:spPr>
          <a:xfrm>
            <a:off x="713232" y="44348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booking</a:t>
            </a:r>
            <a:endParaRPr lang="en-US" sz="1500" dirty="0"/>
          </a:p>
        </p:txBody>
      </p:sp>
      <p:sp>
        <p:nvSpPr>
          <p:cNvPr id="25" name="a3-d-175"/>
          <p:cNvSpPr txBox="1"/>
          <p:nvPr/>
        </p:nvSpPr>
        <p:spPr>
          <a:xfrm>
            <a:off x="713232" y="49377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input and seat availability</a:t>
            </a:r>
            <a:endParaRPr lang="en-US" sz="1200" dirty="0"/>
          </a:p>
        </p:txBody>
      </p:sp>
      <p:sp>
        <p:nvSpPr>
          <p:cNvPr id="26" name="a3-card-176"/>
          <p:cNvSpPr/>
          <p:nvPr/>
        </p:nvSpPr>
        <p:spPr>
          <a:xfrm>
            <a:off x="2286000" y="3657600"/>
            <a:ext cx="1600200" cy="2011680"/>
          </a:xfrm>
          <a:prstGeom prst="roundRect">
            <a:avLst>
              <a:gd name="adj" fmla="val 12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312E81">
                <a:alpha val="18000"/>
              </a:srgbClr>
            </a:outerShdw>
          </a:effectLst>
        </p:spPr>
      </p:sp>
      <p:sp>
        <p:nvSpPr>
          <p:cNvPr id="27" name="a3-n-177"/>
          <p:cNvSpPr/>
          <p:nvPr/>
        </p:nvSpPr>
        <p:spPr>
          <a:xfrm>
            <a:off x="2450592" y="3822192"/>
            <a:ext cx="502920" cy="502920"/>
          </a:xfrm>
          <a:prstGeom prst="ellipse">
            <a:avLst/>
          </a:prstGeom>
          <a:solidFill>
            <a:srgbClr val="EAB30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a3-t-178"/>
          <p:cNvSpPr txBox="1"/>
          <p:nvPr/>
        </p:nvSpPr>
        <p:spPr>
          <a:xfrm>
            <a:off x="2450592" y="44348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fare</a:t>
            </a:r>
            <a:endParaRPr lang="en-US" sz="1500" dirty="0"/>
          </a:p>
        </p:txBody>
      </p:sp>
      <p:sp>
        <p:nvSpPr>
          <p:cNvPr id="29" name="a3-d-179"/>
          <p:cNvSpPr txBox="1"/>
          <p:nvPr/>
        </p:nvSpPr>
        <p:spPr>
          <a:xfrm>
            <a:off x="2450592" y="49377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off for 5 or more tickets</a:t>
            </a:r>
            <a:endParaRPr lang="en-US" sz="1200" dirty="0"/>
          </a:p>
        </p:txBody>
      </p:sp>
      <p:sp>
        <p:nvSpPr>
          <p:cNvPr id="30" name="a4-card-180"/>
          <p:cNvSpPr/>
          <p:nvPr/>
        </p:nvSpPr>
        <p:spPr>
          <a:xfrm>
            <a:off x="4023360" y="3657600"/>
            <a:ext cx="1600200" cy="2011680"/>
          </a:xfrm>
          <a:prstGeom prst="roundRect">
            <a:avLst>
              <a:gd name="adj" fmla="val 12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312E81">
                <a:alpha val="18000"/>
              </a:srgbClr>
            </a:outerShdw>
          </a:effectLst>
        </p:spPr>
      </p:sp>
      <p:sp>
        <p:nvSpPr>
          <p:cNvPr id="31" name="a4-n-181"/>
          <p:cNvSpPr/>
          <p:nvPr/>
        </p:nvSpPr>
        <p:spPr>
          <a:xfrm>
            <a:off x="4187952" y="3822192"/>
            <a:ext cx="502920" cy="502920"/>
          </a:xfrm>
          <a:prstGeom prst="ellipse">
            <a:avLst/>
          </a:prstGeom>
          <a:solidFill>
            <a:srgbClr val="F43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32" name="a4-t-182"/>
          <p:cNvSpPr txBox="1"/>
          <p:nvPr/>
        </p:nvSpPr>
        <p:spPr>
          <a:xfrm>
            <a:off x="4187952" y="44348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seats</a:t>
            </a:r>
            <a:endParaRPr lang="en-US" sz="1500" dirty="0"/>
          </a:p>
        </p:txBody>
      </p:sp>
      <p:sp>
        <p:nvSpPr>
          <p:cNvPr id="33" name="a4-d-183"/>
          <p:cNvSpPr txBox="1"/>
          <p:nvPr/>
        </p:nvSpPr>
        <p:spPr>
          <a:xfrm>
            <a:off x="4187952" y="49377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booked seats</a:t>
            </a:r>
            <a:endParaRPr lang="en-US" sz="1200" dirty="0"/>
          </a:p>
        </p:txBody>
      </p:sp>
      <p:sp>
        <p:nvSpPr>
          <p:cNvPr id="34" name="a4-card-184"/>
          <p:cNvSpPr/>
          <p:nvPr/>
        </p:nvSpPr>
        <p:spPr>
          <a:xfrm>
            <a:off x="5760720" y="3657600"/>
            <a:ext cx="1600200" cy="2011680"/>
          </a:xfrm>
          <a:prstGeom prst="roundRect">
            <a:avLst>
              <a:gd name="adj" fmla="val 12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312E81">
                <a:alpha val="18000"/>
              </a:srgbClr>
            </a:outerShdw>
          </a:effectLst>
        </p:spPr>
      </p:sp>
      <p:sp>
        <p:nvSpPr>
          <p:cNvPr id="35" name="a4-n-185"/>
          <p:cNvSpPr/>
          <p:nvPr/>
        </p:nvSpPr>
        <p:spPr>
          <a:xfrm>
            <a:off x="5925312" y="3822192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36" name="a4-t-186"/>
          <p:cNvSpPr txBox="1"/>
          <p:nvPr/>
        </p:nvSpPr>
        <p:spPr>
          <a:xfrm>
            <a:off x="5925312" y="44348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500" dirty="0"/>
          </a:p>
        </p:txBody>
      </p:sp>
      <p:sp>
        <p:nvSpPr>
          <p:cNvPr id="37" name="a4-d-187"/>
          <p:cNvSpPr txBox="1"/>
          <p:nvPr/>
        </p:nvSpPr>
        <p:spPr>
          <a:xfrm>
            <a:off x="5925312" y="49377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reservation details</a:t>
            </a:r>
            <a:endParaRPr lang="en-US" sz="1200" dirty="0"/>
          </a:p>
        </p:txBody>
      </p:sp>
      <p:pic>
        <p:nvPicPr>
          <p:cNvPr id="38" name="a5-gif-188" descr="Animated route map: a bus travels from start to stop to destin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463040"/>
            <a:ext cx="4023360" cy="2953512"/>
          </a:xfrm>
          <a:prstGeom prst="rect">
            <a:avLst/>
          </a:prstGeom>
        </p:spPr>
      </p:pic>
      <p:sp>
        <p:nvSpPr>
          <p:cNvPr id="39" name="a6-cap-189"/>
          <p:cNvSpPr/>
          <p:nvPr/>
        </p:nvSpPr>
        <p:spPr>
          <a:xfrm>
            <a:off x="7635240" y="4572000"/>
            <a:ext cx="4023360" cy="914400"/>
          </a:xfrm>
          <a:prstGeom prst="roundRect">
            <a:avLst>
              <a:gd name="adj" fmla="val 20000"/>
            </a:avLst>
          </a:prstGeom>
          <a:solidFill>
            <a:srgbClr val="E11D48"/>
          </a:solidFill>
          <a:ln/>
          <a:effectLst>
            <a:outerShdw sx="100000" sy="100000" kx="0" ky="0" algn="bl" rotWithShape="0" blurRad="127000" dist="38100" dir="5400000">
              <a:srgbClr val="312E81">
                <a:alpha val="18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 → 8 run every time a passenger books, and the menu repeats until Exit.</a:t>
            </a:r>
            <a:endParaRPr lang="en-US" sz="1500" dirty="0"/>
          </a:p>
        </p:txBody>
      </p:sp>
    </p:spTree>
  </p:cSld>
  <p:clrMapOvr>
    <a:masterClrMapping/>
  </p:clrMapOvr>
  <p:transition spd="slow">
    <p:split orient="vert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3" grpId="0" animBg="1"/>
      <p:bldP spid="35" grpId="0" animBg="1"/>
      <p:bldP spid="36" grpId="0" animBg="1"/>
      <p:bldP spid="37" grpId="0" animBg="1"/>
      <p:bldP spid="3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-bg_thanks" descr="Animated backg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a1-t-190"/>
          <p:cNvSpPr txBox="1"/>
          <p:nvPr/>
        </p:nvSpPr>
        <p:spPr>
          <a:xfrm>
            <a:off x="548640" y="68580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a2-s-191"/>
          <p:cNvSpPr txBox="1"/>
          <p:nvPr/>
        </p:nvSpPr>
        <p:spPr>
          <a:xfrm>
            <a:off x="548640" y="17373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DE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Intercity Bus Reservation Simulator</a:t>
            </a:r>
            <a:endParaRPr lang="en-US" sz="2200" dirty="0"/>
          </a:p>
        </p:txBody>
      </p:sp>
      <p:sp>
        <p:nvSpPr>
          <p:cNvPr id="5" name="a3-p-192"/>
          <p:cNvSpPr/>
          <p:nvPr/>
        </p:nvSpPr>
        <p:spPr>
          <a:xfrm>
            <a:off x="548640" y="2377440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1500" dirty="0"/>
          </a:p>
        </p:txBody>
      </p:sp>
      <p:sp>
        <p:nvSpPr>
          <p:cNvPr id="6" name="a3-p-193"/>
          <p:cNvSpPr/>
          <p:nvPr/>
        </p:nvSpPr>
        <p:spPr>
          <a:xfrm>
            <a:off x="1874520" y="2377440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</a:t>
            </a:r>
            <a:endParaRPr lang="en-US" sz="1500" dirty="0"/>
          </a:p>
        </p:txBody>
      </p:sp>
      <p:sp>
        <p:nvSpPr>
          <p:cNvPr id="7" name="a3-p-194"/>
          <p:cNvSpPr/>
          <p:nvPr/>
        </p:nvSpPr>
        <p:spPr>
          <a:xfrm>
            <a:off x="3200400" y="2377440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84CC1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</a:t>
            </a:r>
            <a:endParaRPr lang="en-US" sz="1500" dirty="0"/>
          </a:p>
        </p:txBody>
      </p:sp>
      <p:sp>
        <p:nvSpPr>
          <p:cNvPr id="8" name="a4-pt-195"/>
          <p:cNvSpPr txBox="1"/>
          <p:nvPr/>
        </p:nvSpPr>
        <p:spPr>
          <a:xfrm>
            <a:off x="54864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300" dirty="0"/>
          </a:p>
        </p:txBody>
      </p:sp>
      <p:sp>
        <p:nvSpPr>
          <p:cNvPr id="9" name="a5-team-196"/>
          <p:cNvSpPr/>
          <p:nvPr/>
        </p:nvSpPr>
        <p:spPr>
          <a:xfrm>
            <a:off x="548640" y="3474720"/>
            <a:ext cx="4754880" cy="4937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12E81">
                <a:alpha val="18000"/>
              </a:srgbClr>
            </a:outerShdw>
          </a:effectLst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Tony Sainipun</a:t>
            </a:r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Information Gathering</a:t>
            </a:r>
            <a:endParaRPr lang="en-US" sz="1600" dirty="0"/>
          </a:p>
        </p:txBody>
      </p:sp>
      <p:sp>
        <p:nvSpPr>
          <p:cNvPr id="10" name="a6-team-197"/>
          <p:cNvSpPr/>
          <p:nvPr/>
        </p:nvSpPr>
        <p:spPr>
          <a:xfrm>
            <a:off x="548640" y="4096512"/>
            <a:ext cx="4754880" cy="4937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12E81">
                <a:alpha val="18000"/>
              </a:srgbClr>
            </a:outerShdw>
          </a:effectLst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Viloch</a:t>
            </a:r>
            <a:pPr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PPT</a:t>
            </a:r>
            <a:endParaRPr lang="en-US" sz="1600" dirty="0"/>
          </a:p>
        </p:txBody>
      </p:sp>
      <p:sp>
        <p:nvSpPr>
          <p:cNvPr id="11" name="a7-team-198"/>
          <p:cNvSpPr/>
          <p:nvPr/>
        </p:nvSpPr>
        <p:spPr>
          <a:xfrm>
            <a:off x="548640" y="4718304"/>
            <a:ext cx="4754880" cy="4937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12E81">
                <a:alpha val="18000"/>
              </a:srgbClr>
            </a:outerShdw>
          </a:effectLst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Satvik</a:t>
            </a:r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Code</a:t>
            </a:r>
            <a:endParaRPr lang="en-US" sz="16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theme/theme1.xml><?xml version="1.0" encoding="utf-8"?>
<a:theme xmlns:a="http://schemas.openxmlformats.org/drawingml/2006/main" name="Intercity Pop">
  <a:themeElements>
    <a:clrScheme name="Intercity Pop">
      <a:dk1>
        <a:srgbClr val="1E1B4B"/>
      </a:dk1>
      <a:lt1>
        <a:srgbClr val="FFFFFF"/>
      </a:lt1>
      <a:dk2>
        <a:srgbClr val="312E81"/>
      </a:dk2>
      <a:lt2>
        <a:srgbClr val="F3EEFF"/>
      </a:lt2>
      <a:accent1>
        <a:srgbClr val="F97316"/>
      </a:accent1>
      <a:accent2>
        <a:srgbClr val="EC4899"/>
      </a:accent2>
      <a:accent3>
        <a:srgbClr val="7C3AED"/>
      </a:accent3>
      <a:accent4>
        <a:srgbClr val="14B8A6"/>
      </a:accent4>
      <a:accent5>
        <a:srgbClr val="FACC15"/>
      </a:accent5>
      <a:accent6>
        <a:srgbClr val="06B6D4"/>
      </a:accent6>
      <a:hlink>
        <a:srgbClr val="7C3AED"/>
      </a:hlink>
      <a:folHlink>
        <a:srgbClr val="EC4899"/>
      </a:folHlink>
    </a:clrScheme>
    <a:fontScheme name="Intercity Pop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Intercity Bus Reservation Simulator</dc:title>
  <dc:subject>PptxGenJS Presentation</dc:subject>
  <dc:creator>PptxGenJS</dc:creator>
  <cp:lastModifiedBy>PptxGenJS</cp:lastModifiedBy>
  <cp:revision>1</cp:revision>
  <dcterms:created xsi:type="dcterms:W3CDTF">2026-10-15T15:29:29Z</dcterms:created>
  <dcterms:modified xsi:type="dcterms:W3CDTF">2026-10-15T15:29:29Z</dcterms:modified>
</cp:coreProperties>
</file>